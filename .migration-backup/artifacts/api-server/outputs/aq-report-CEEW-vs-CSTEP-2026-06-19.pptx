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AQ Articles</c:v>
                </c:pt>
              </c:strCache>
            </c:strRef>
          </c:tx>
          <c:spPr>
            <a:solidFill>
              <a:srgbClr val="3D8E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D8E4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8ef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5c3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CEEW</c:v>
                  </c:pt>
                  <c:pt idx="1">
                    <c:v>CSTEP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D8E4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2d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81E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 Source %</c:v>
                </c:pt>
              </c:strCache>
            </c:strRef>
          </c:tx>
          <c:spPr>
            <a:solidFill>
              <a:srgbClr val="4CAF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D8E4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CEEW</c:v>
                  </c:pt>
                  <c:pt idx="1">
                    <c:v>CSTEP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 Cited %</c:v>
                </c:pt>
              </c:strCache>
            </c:strRef>
          </c:tx>
          <c:spPr>
            <a:solidFill>
              <a:srgbClr val="C992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D8E4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CEEW</c:v>
                  </c:pt>
                  <c:pt idx="1">
                    <c:v>CSTEP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D8E4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2d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D8E4F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81E2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AEO Score</c:v>
                </c:pt>
              </c:strCache>
            </c:strRef>
          </c:tx>
          <c:spPr>
            <a:solidFill>
              <a:srgbClr val="3D8E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D8E4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8ef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5c3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CEEW</c:v>
                  </c:pt>
                  <c:pt idx="1">
                    <c:v>CSTEP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D8E4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252d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81E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194560"/>
          </a:xfrm>
          <a:prstGeom prst="rect">
            <a:avLst/>
          </a:prstGeom>
          <a:solidFill>
            <a:srgbClr val="111520"/>
          </a:solidFill>
          <a:ln w="12700">
            <a:solidFill>
              <a:srgbClr val="11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MEDIA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Quality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TRIPLE Media Analytics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103120" cy="402336"/>
          </a:xfrm>
          <a:prstGeom prst="roundRect">
            <a:avLst>
              <a:gd name="adj" fmla="val 11364"/>
            </a:avLst>
          </a:prstGeom>
          <a:solidFill>
            <a:srgbClr val="3D8EF0">
              <a:alpha val="18000"/>
            </a:srgbClr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3172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2331720"/>
            <a:ext cx="2103120" cy="402336"/>
          </a:xfrm>
          <a:prstGeom prst="roundRect">
            <a:avLst>
              <a:gd name="adj" fmla="val 11364"/>
            </a:avLst>
          </a:prstGeom>
          <a:solidFill>
            <a:srgbClr val="E05C3A">
              <a:alpha val="18000"/>
            </a:srgbClr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233172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CSTEP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2026-02-01  →  2026-05-01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292608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LLM Visibility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321868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Social ER: 1 orgs (Apify)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Chetan Bhattacharji · Generated 2026-06-19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47120" cy="1316736"/>
          </a:xfrm>
          <a:prstGeom prst="roundRect">
            <a:avLst>
              <a:gd name="adj" fmla="val 5556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61872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CSTEP published 50% more articles on air quality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64208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CSTEP generated 6 articles compared to CEEW's 4 articles during the February-May 2026 period. This 2-article difference represents a measurable gap in publication volume on Indian air quality coverage.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15184"/>
            <a:ext cx="11247120" cy="1316736"/>
          </a:xfrm>
          <a:prstGeom prst="roundRect">
            <a:avLst>
              <a:gd name="adj" fmla="val 5556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06624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188720" y="2724912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CSTEP prioritized data-driven air quality reporting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108960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CSTEP achieved 83% data-specific content while CEEW recorded 0% across their respective article sets. This indicates CSTEP's coverage incorporated quantified metrics, datasets, or numerical analysis in air quality reporting.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11247120" cy="1316736"/>
          </a:xfrm>
          <a:prstGeom prst="roundRect">
            <a:avLst>
              <a:gd name="adj" fmla="val 5556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151376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188720" y="4169664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organizations showed zero social media engagement traction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553712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 and CSTEP each recorded 0/10 social media engagement rates across Twitter, Instagram, and LinkedIn. Neither organization demonstrated measurable social amplification of their air quality coverage during this period.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2026-02-01 to 2026-05-01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of Voice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15568"/>
          <a:ext cx="7132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115568"/>
            <a:ext cx="3840480" cy="1170432"/>
          </a:xfrm>
          <a:prstGeom prst="roundRect">
            <a:avLst>
              <a:gd name="adj" fmla="val 6250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28432" y="12070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28432" y="1463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028432" y="19385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418320" y="1463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share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418320" y="17556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The Hindu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863840" y="2414016"/>
            <a:ext cx="3840480" cy="1170432"/>
          </a:xfrm>
          <a:prstGeom prst="roundRect">
            <a:avLst>
              <a:gd name="adj" fmla="val 6250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28432" y="25054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CSTEP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28432" y="276148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8028432" y="323697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418320" y="2761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share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418320" y="305409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Times of India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638251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 News API · 2026-06-19 · AQ-scoped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Ownership Map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15568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89120"/>
                <a:gridCol w="438912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 SUB-TOPIC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8E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0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PM2.5 Exposure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Stubble Burning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Air Finance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Vehicular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Heat-AQI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Brick Kilns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Petrol Emissions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Diesel Emissions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Emitters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Power Plants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Indoor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Biomass Air Pollution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 Residue Burning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Wheat Residue Burning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 Dust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40">
                        <a:alpha val="8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82512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= 5+ · Contests = 2–4 · Absent = 0–1 · Clustered by Claude Haiku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05 &amp; 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Narrative Position &amp; Citation Quality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383280" cy="2450592"/>
          </a:xfrm>
          <a:prstGeom prst="roundRect">
            <a:avLst>
              <a:gd name="adj" fmla="val 2985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618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162397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94360" y="2157984"/>
            <a:ext cx="162397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21992" y="1554480"/>
            <a:ext cx="0" cy="822960"/>
          </a:xfrm>
          <a:prstGeom prst="line">
            <a:avLst/>
          </a:prstGeom>
          <a:noFill/>
          <a:ln w="6350">
            <a:solidFill>
              <a:srgbClr val="252D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13432" y="1554480"/>
            <a:ext cx="162397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313432" y="2157984"/>
            <a:ext cx="162397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Cited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69080" y="1170432"/>
            <a:ext cx="3383280" cy="2450592"/>
          </a:xfrm>
          <a:prstGeom prst="roundRect">
            <a:avLst>
              <a:gd name="adj" fmla="val 2985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2618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CSTEP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0" y="1554480"/>
            <a:ext cx="162397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206240" y="2157984"/>
            <a:ext cx="162397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33872" y="1554480"/>
            <a:ext cx="0" cy="822960"/>
          </a:xfrm>
          <a:prstGeom prst="line">
            <a:avLst/>
          </a:prstGeom>
          <a:noFill/>
          <a:ln w="6350">
            <a:solidFill>
              <a:srgbClr val="252D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25312" y="1554480"/>
            <a:ext cx="162397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925312" y="2157984"/>
            <a:ext cx="162397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Cited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0" y="24871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"48 air quality sensors from six manufacturers were tested"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06240" y="2889504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Indian Express · Apr 24, 2026</a:t>
            </a:r>
            <a:endParaRPr lang="en-US" sz="8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3840480"/>
          <a:ext cx="112471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2026-02-01 to 2026-05-01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 — LLM VISIBILITY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 Optimisation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is each organisation cited when AI models answer AQ questions? Based on 5 standard queries per LLM.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41732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55080" y="15087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355080" y="180136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AEO: 20/100 · 2 total mentions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355080" y="205740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Flash: 0/15  ·  Perplexity: 1/15  ·  GPT-4o mini: 1/15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355080" y="2331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"Several **think tanks and policy research organizations** influence air quality regulation and policy in India, mainly b..."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17920" y="288036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29718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CSTEP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55080" y="326440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AEO: 0/100 · 0 total mentions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355080" y="352044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Flash: 0/15  ·  Perplexity: 0/15  ·  GPT-4o mini: 0/15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6382512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 questions: "Which organisations are the most authoritative on Indian air quality?" and 4 similar. Score = (mentions/questions) × 100.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2026-02-01 to 2026-05-01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INTELLIGENCE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Engagement Rate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= (Likes + Comments + Shares) × 100 ÷ Followers, averaged across AQ posts per org. Apify: X/Twitter · Instagram · LinkedIn.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94183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926080"/>
                <a:gridCol w="1188720"/>
                <a:gridCol w="1188720"/>
                <a:gridCol w="1188720"/>
                <a:gridCol w="118872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Twitter 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 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9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05C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8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F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0T/0I/0L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382512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 actors: apidojo/tweet-scraper-v2 · apify/instagram-scraper · harvestapi/linkedin-profile-posts-scraper · Instagram and LinkedIn shares excluded from ER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2026-02-01 to 2026-05-01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 Media White-Space Gaps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the broader AQ media is covering that tracked orgs are absent from — narrative opportunities.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2121408"/>
          </a:xfrm>
          <a:prstGeom prst="roundRect">
            <a:avLst>
              <a:gd name="adj" fmla="val 3448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02920" cy="2121408"/>
          </a:xfrm>
          <a:prstGeom prst="roundRect">
            <a:avLst>
              <a:gd name="adj" fmla="val 7273"/>
            </a:avLst>
          </a:prstGeom>
          <a:solidFill>
            <a:srgbClr val="C9922A">
              <a:alpha val="22000"/>
            </a:srgbClr>
          </a:solidFill>
          <a:ln w="6350">
            <a:solidFill>
              <a:srgbClr val="C99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508760"/>
            <a:ext cx="10149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Air Quality Health Risks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892808"/>
            <a:ext cx="10149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of indoor air pollution's health impacts in workplaces and homes, showing it can be more dangerous than outdoor AQI, but lacks policy or research institution engagement.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2240280"/>
            <a:ext cx="10149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3 articles on indoor AQ health risks (office AC sickness, indoor vs outdoor pollution comparison) published Feb-Jun 2026, zero mentions of CEEW or CSTEP despite being active AQ research organizations.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26060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CEEW or CSTEP could publish research on indoor AQ health burden in Indian offices/homes and policy recommendations for indoor air standards, directly addressing the health messaging already in media.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11247120" cy="2121408"/>
          </a:xfrm>
          <a:prstGeom prst="roundRect">
            <a:avLst>
              <a:gd name="adj" fmla="val 3448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703320"/>
            <a:ext cx="502920" cy="2121408"/>
          </a:xfrm>
          <a:prstGeom prst="roundRect">
            <a:avLst>
              <a:gd name="adj" fmla="val 7273"/>
            </a:avLst>
          </a:prstGeom>
          <a:solidFill>
            <a:srgbClr val="C9922A">
              <a:alpha val="22000"/>
            </a:srgbClr>
          </a:solidFill>
          <a:ln w="6350">
            <a:solidFill>
              <a:srgbClr val="C992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794760"/>
            <a:ext cx="10149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Heat-Ozone-Health Nexus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" y="4178808"/>
            <a:ext cx="10149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coverage linking heatwaves to ground-level ozone pollution and resulting mortality (26,500 deaths in 2024), representing a climate-health intersection receiving media attention but lacking institutional research visibility.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8992" y="4526280"/>
            <a:ext cx="10149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2 articles (IIT ozone-heat study, UNICEF child-heat-pollution initiative) covering ozone health impacts and heat-AQ interactions, neither mentioning CEEW or CSTEP despite organizations' climate and health expertise.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48920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CEEW or CSTEP could lead with research quantifying heatwave-ozone interaction impacts and adaptive strategies for vulnerable populations, capitalizing on emerging media focus on this nexus.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2026-02-01 to 2026-05-01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Scorecard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383280" cy="4572000"/>
          </a:xfrm>
          <a:prstGeom prst="roundRect">
            <a:avLst>
              <a:gd name="adj" fmla="val 2703"/>
            </a:avLst>
          </a:prstGeom>
          <a:solidFill>
            <a:srgbClr val="111520"/>
          </a:solidFill>
          <a:ln w="19050">
            <a:solidFill>
              <a:srgbClr val="E05C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CSTEP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CAF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100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871216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Voice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3090672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3090672"/>
            <a:ext cx="466344" cy="91440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87121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438144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657600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34381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4005072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4224528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4224528"/>
            <a:ext cx="2580437" cy="91440"/>
          </a:xfrm>
          <a:prstGeom prst="rect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400507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572000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4791456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45720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05072" y="1170432"/>
            <a:ext cx="3383280" cy="4572000"/>
          </a:xfrm>
          <a:prstGeom prst="roundRect">
            <a:avLst>
              <a:gd name="adj" fmla="val 2703"/>
            </a:avLst>
          </a:prstGeom>
          <a:solidFill>
            <a:srgbClr val="111520"/>
          </a:solidFill>
          <a:ln w="19050">
            <a:solidFill>
              <a:srgbClr val="3D8E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05072" y="12618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05072" y="1536192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2nd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4005072" y="24871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42232" y="2871216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Voice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42232" y="3090672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42232" y="3090672"/>
            <a:ext cx="310896" cy="9144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85432" y="287121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42232" y="3438144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42232" y="3657600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85432" y="343814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42232" y="4005072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42232" y="4224528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85432" y="400507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42232" y="4572000"/>
            <a:ext cx="175930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42232" y="4791456"/>
            <a:ext cx="3108960" cy="91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52D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42232" y="4791456"/>
            <a:ext cx="621792" cy="9144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85432" y="457200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382512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(SoV×0.25) + (Narrative×0.25) + (Citation×0.20) + (AEO×0.30)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E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Matrix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D4A017">
              <a:alpha val="25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642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72768" y="151790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targeted research &amp; media outreach on Indoor Air Quality Health Risks—zero tracked coverage despite high public health relevance in Indian cities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18105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88920" y="1810512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White-space gap with no competitor presence; aligns with CEEW's Hindu readership (metro-focused health-conscious audience) and solves 0% topic diversification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12848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4CAF74">
              <a:alpha val="25000"/>
            </a:srgbClr>
          </a:solidFill>
          <a:ln w="6350">
            <a:solidFill>
              <a:srgbClr val="4CAF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140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72768" y="22677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 opinion pieces in The Hindu framing air quality as health equity issue, leveraging existing outlet relationship to build narrative authority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25603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88920" y="2560320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articles already published in top outlet; narrative shift from technical to health-justice angle captures unmet conversation space and increases editorial appeal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962656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62656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3D8EF0">
              <a:alpha val="25000"/>
            </a:srgbClr>
          </a:solidFill>
          <a:ln w="6350">
            <a:solidFill>
              <a:srgbClr val="3D8E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638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72768" y="3017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Twitter &amp; Instagram with visual explainers on Heat-Ozone-Health Nexus (20-30 post series)—zero current social presence despite media coverage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72768" y="33101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88920" y="3310128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social engagement across platforms represents immediate efficiency gain; heat-health topic has viral potential in Indian summer discourse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712464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12464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E05C5C">
              <a:alpha val="25000"/>
            </a:srgbClr>
          </a:solidFill>
          <a:ln w="6350">
            <a:solidFill>
              <a:srgbClr val="E05C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136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72768" y="37673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5-7 standalone data visualizations on regional AQ-health correlations optimized for search (AEO: 20→60 target); pitch as free graphics to outlets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72768" y="40599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88920" y="4059936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 score 20/100 indicates poor discoverability; data-backed visuals drive both media pickup and organic search traffic; low cost, high multiplier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55371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CSTEP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84632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846320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D4A017">
              <a:alpha val="25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0474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Now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572768" y="490118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Reposition 83% data-heavy research into policy-impact narratives for Times of India; launch 'Data to Action' monthly column linking datasets to regulation outcomes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572768" y="51937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88920" y="5193792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data assets (83%) underutilized narratively; Times of India readers (policy/business) respond to actionable intelligence over raw analysis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5596128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111520"/>
          </a:solidFill>
          <a:ln w="6350">
            <a:solidFill>
              <a:srgbClr val="252D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5596128"/>
            <a:ext cx="1005840" cy="658368"/>
          </a:xfrm>
          <a:prstGeom prst="roundRect">
            <a:avLst>
              <a:gd name="adj" fmla="val 5556"/>
            </a:avLst>
          </a:prstGeom>
          <a:solidFill>
            <a:srgbClr val="4CAF74">
              <a:alpha val="25000"/>
            </a:srgbClr>
          </a:solidFill>
          <a:ln w="6350">
            <a:solidFill>
              <a:srgbClr val="4CAF7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79729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572768" y="56509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original investigation on Industrial Pollution Hotspot Regulation effectiveness using CSTEP's own datasets—uncontested white-space topic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572768" y="59436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88920" y="5943600"/>
            <a:ext cx="8732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Data-specific strength (83%) directly applicable to regulation gap; Times of India's investigative credibility + CSTEP's data = unique positioning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AI · AQ Intelligence · 2026-02-01 to 2026-05-01 ·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 Media Intelligence — CEEW vs CSTEP</dc:title>
  <dc:subject>PptxGenJS Presentation</dc:subject>
  <dc:creator>Emerald AI</dc:creator>
  <cp:lastModifiedBy>Emerald AI</cp:lastModifiedBy>
  <cp:revision>1</cp:revision>
  <dcterms:created xsi:type="dcterms:W3CDTF">2026-06-19T07:02:54Z</dcterms:created>
  <dcterms:modified xsi:type="dcterms:W3CDTF">2026-06-19T07:02:54Z</dcterms:modified>
</cp:coreProperties>
</file>