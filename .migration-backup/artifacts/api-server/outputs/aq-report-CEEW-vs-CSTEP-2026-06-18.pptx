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 Articles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8e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CEEW</c:v>
                </c:pt>
              </c:strCache>
            </c:strRef>
          </c:tx>
          <c:spPr>
            <a:solidFill>
              <a:srgbClr val="3D8EF0"/>
            </a:solidFill>
            <a:ln w="38100" cap="flat">
              <a:solidFill>
                <a:srgbClr val="3D8E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8EF0"/>
              </a:solidFill>
              <a:ln w="9525" cap="flat">
                <a:solidFill>
                  <a:srgbClr val="3D8E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03-08</c:v>
                  </c:pt>
                  <c:pt idx="1">
                    <c:v>03-15</c:v>
                  </c:pt>
                  <c:pt idx="2">
                    <c:v>03-22</c:v>
                  </c:pt>
                  <c:pt idx="3">
                    <c:v>03-29</c:v>
                  </c:pt>
                  <c:pt idx="4">
                    <c:v>04-05</c:v>
                  </c:pt>
                  <c:pt idx="5">
                    <c:v>04-12</c:v>
                  </c:pt>
                  <c:pt idx="6">
                    <c:v>04-19</c:v>
                  </c:pt>
                  <c:pt idx="7">
                    <c:v>04-26</c:v>
                  </c:pt>
                  <c:pt idx="8">
                    <c:v>05-03</c:v>
                  </c:pt>
                  <c:pt idx="9">
                    <c:v>05-10</c:v>
                  </c:pt>
                  <c:pt idx="10">
                    <c:v>05-17</c:v>
                  </c:pt>
                  <c:pt idx="11">
                    <c:v>05-24</c:v>
                  </c:pt>
                  <c:pt idx="12">
                    <c:v>05-31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CSTEP</c:v>
                </c:pt>
              </c:strCache>
            </c:strRef>
          </c:tx>
          <c:spPr>
            <a:solidFill>
              <a:srgbClr val="E05C3A"/>
            </a:solidFill>
            <a:ln w="38100" cap="flat">
              <a:solidFill>
                <a:srgbClr val="E05C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C3A"/>
              </a:solidFill>
              <a:ln w="9525" cap="flat">
                <a:solidFill>
                  <a:srgbClr val="E05C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03-08</c:v>
                  </c:pt>
                  <c:pt idx="1">
                    <c:v>03-15</c:v>
                  </c:pt>
                  <c:pt idx="2">
                    <c:v>03-22</c:v>
                  </c:pt>
                  <c:pt idx="3">
                    <c:v>03-29</c:v>
                  </c:pt>
                  <c:pt idx="4">
                    <c:v>04-05</c:v>
                  </c:pt>
                  <c:pt idx="5">
                    <c:v>04-12</c:v>
                  </c:pt>
                  <c:pt idx="6">
                    <c:v>04-19</c:v>
                  </c:pt>
                  <c:pt idx="7">
                    <c:v>04-26</c:v>
                  </c:pt>
                  <c:pt idx="8">
                    <c:v>05-03</c:v>
                  </c:pt>
                  <c:pt idx="9">
                    <c:v>05-10</c:v>
                  </c:pt>
                  <c:pt idx="10">
                    <c:v>05-17</c:v>
                  </c:pt>
                  <c:pt idx="11">
                    <c:v>05-24</c:v>
                  </c:pt>
                  <c:pt idx="12">
                    <c:v>05-31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5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Source %</c:v>
                </c:pt>
              </c:strCache>
            </c:strRef>
          </c:tx>
          <c:spPr>
            <a:solidFill>
              <a:srgbClr val="4CAF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Cited %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AEO Score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8e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MEDIA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Media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3D8EF0">
              <a:alpha val="18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E05C3A">
              <a:alpha val="18000"/>
            </a:srgbClr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2026-03-08  →  2026-06-08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9260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Visibility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218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Social: X/Twitter · Instagram · LinkedIn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Chetan Bhattacharji · Generated 2026-06-18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Dominates Coverage Volume by 7x Margin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published 7 articles versus CEEW's 1 article during the March-June 2026 period. This represents substantially higher media output on Indian air quality topics from CSTEP across the same timeframe and outlets.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Leads Data-Specific Content Production Significantly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generated 57% data-specific coverage compared to CEEW's 0% across their respective article counts. Only CSTEP demonstrated measurable focus on quantitative air quality data within published materials.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Organizations Show Minimal Digital Amplification Capacity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5371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and CSTEP each scored 0/10 on social media metrics across YouTube, Twitter, Instagram, and LinkedIn. Neither organization achieved discernible social media visibility for air quality coverage during this period.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Voice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11556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28432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28432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28432" y="1938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418320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1755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Times of India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0" y="2414016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28432" y="27614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028432" y="32369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1832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30540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Times of India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News API · 2026-06-18 · AQ-scoped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Momentum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11247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Ownership Map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891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8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Contests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A8">
                        <a:alpha val="45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 Kilns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Emitters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Power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 Air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= 5+ · Contests = 2–4 · Absent = 0–1 · Clustered by Claude Haiku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06 &amp;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Position &amp; Citation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1343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20624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387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2531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4871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"48 air quality sensors from six manufacturers were tested"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28895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Indian Express · 1 month ago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84048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— LLM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 Optimisation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each organisation cited when AI models answer AQ questions? Based on 5 standard queries per LLM.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417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801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AEO: 7/100 · 3 total mentions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2057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2/15  ·  GPT-4o mini: 1/15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**leading India-based think tanks and research bodies** working on clean air policy include **CEEW, CSE, TERI, WRI I..."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71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326440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AEO: 4/100 · 2 total mentions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204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2/15  ·  GPT-4o mini: 0/15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**leading India-based think tanks and research bodies** working on clean air policy include **CEEW, CSE, TERI, WRI I..."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questions: "Which organisations are the most authoritative on Indian air quality?" and 4 similar. Score = (mentions/questions) × 100.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Presence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mentions in top AQ content across YouTube · X/Twitter · Instagram · LinkedIn — Serper Search + YouTube Data API.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data not collected this run.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social media API keys and/or Serper key to enable.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Data API v3 broad AQ search · X/Twitter/Instagram/LinkedIn: Serper site: search · mention detection across title, description, comments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Media White-Space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the broader AQ media is covering that tracked orgs are absent from — narrative opportunities.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08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Air Quality Health Impacts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media focus on indoor air pollution as a serious health threat, often surpassing outdoor air quality risks in office and residential spaces.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2 articles specifically on indoor air quality health risks (office AC sickness, indoor vs outdoor pollution comparison) with zero mentions of CEEW or CSTEP engagement in this sub-domain.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2606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CEEW or CSTEP could publish research on indoor air quality standards in Indian workplaces and homes, positioning themselves as experts in this emerging health narrative.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03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794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&amp; Cardiovascular Health Link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media narrative connecting air pollution exposure to measurable cardiovascular disease increases and mortality, supported by epidemiological studies.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4526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3 articles on pollution-health outcomes (heatwave-ozone deaths, CVD rise with pollution, WHO guideline non-compliance) with no tracked organization commentary or research citations.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4892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CEEW or CSTEP could publish or partner on health epidemiology studies quantifying pollution's cardiovascular burden in India, filling a clear evidence gap in media discourse.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3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90672"/>
            <a:ext cx="93269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791456"/>
            <a:ext cx="217627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05072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E0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05072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4005072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100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42232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42232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3090672"/>
            <a:ext cx="559613" cy="91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42232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42232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42232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42232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42232" y="4224528"/>
            <a:ext cx="1772107" cy="91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42232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42232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42232" y="4791456"/>
            <a:ext cx="124358" cy="91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85432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(AEO×0.30)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517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bylined expert column in Times of India on air quality policy to build author authority and shift from 1 article baseline to consistent thought leadership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author authentication across single article represents critical credibility gap; Times of India is proven outlet for CEEW content.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research + media series on 'Air Pollution &amp; Cardiovascular Health Link'—white-space topic absent from tracked media but aligns with CEEW's energy-health nexus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identified gap in AQ media conversations while positioning CEEW uniquely against CSTEP's PM2.5 focus.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LinkedIn with weekly policy briefs + data visualizations (target 2 posts/week) to reach government/corporate decision-makers at zero current baseline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31012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 social score with 0 LinkedIn activity; policy audience for air quality sits natively on this platform.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3D8EF0">
              <a:alpha val="25000"/>
            </a:srgbClr>
          </a:solidFill>
          <a:ln w="6350">
            <a:solidFill>
              <a:srgbClr val="3D8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3767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Times of India articles with SEO-optimized subheadings, internal linking strategy, and meta descriptions targeting 'air quality policy India' keywords to improve AEO from 7/100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40599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score of 7/100 indicates severe discoverability problem; existing outlet relationship should be leverage point for technical optimization.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4632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47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72768" y="49011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2-3 authenticated case studies with researcher bylines showing real PM2.5 health outcomes data to convert 57% data-specific articles into evidence-driven narrative authority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72768" y="5193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88920" y="519379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data-specific articles without author authentication dilutes impact; named researchers on health-outcome stories shift credibility from generic data reporting.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59612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59612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97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72768" y="56509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investigative series on 'Indoor Air Quality Health Impacts' in partnership with health journalists—white-space topic that extends CSTEP's PM2.5 expertise indoors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72768" y="5943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88920" y="594360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existing PM2.5 focus while filling media gap; indoor AQ has emerging health policy relevance in India absent from current coverage.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 Media Intelligence — CEEW vs CSTEP</dc:title>
  <dc:subject>PptxGenJS Presentation</dc:subject>
  <dc:creator>Emerald AI</dc:creator>
  <cp:lastModifiedBy>Emerald AI</cp:lastModifiedBy>
  <cp:revision>1</cp:revision>
  <dcterms:created xsi:type="dcterms:W3CDTF">2026-06-18T01:08:35Z</dcterms:created>
  <dcterms:modified xsi:type="dcterms:W3CDTF">2026-06-18T01:08:35Z</dcterms:modified>
</cp:coreProperties>
</file>