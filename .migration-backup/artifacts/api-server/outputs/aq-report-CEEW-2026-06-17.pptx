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5.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8.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AQ Articles</c:v>
                </c:pt>
              </c:strCache>
            </c:strRef>
          </c:tx>
          <c:spPr>
            <a:solidFill>
              <a:srgbClr val="3D8EF0"/>
            </a:solidFill>
            <a:effectLst/>
          </c:spPr>
          <c:invertIfNegative val="0"/>
          <c:dLbls>
            <c:numFmt formatCode="#,##0" sourceLinked="0"/>
            <c:txPr>
              <a:bodyPr/>
              <a:lstStyle/>
              <a:p>
                <a:pPr>
                  <a:defRPr b="0" i="0" strike="noStrike" sz="1100" u="none">
                    <a:solidFill>
                      <a:srgbClr val="D8E4F0"/>
                    </a:solidFill>
                    <a:latin typeface="Arial"/>
                  </a:defRPr>
                </a:pPr>
              </a:p>
            </c:txPr>
            <c:showLegendKey val="0"/>
            <c:showVal val="1"/>
            <c:showCatName val="0"/>
            <c:showSerName val="0"/>
            <c:showPercent val="0"/>
            <c:showBubbleSize val="0"/>
            <c:showLeaderLines val="0"/>
          </c:dLbls>
          <c:cat>
            <c:multiLvlStrRef>
              <c:f>Sheet1!$A$2:$A$2</c:f>
              <c:multiLvlStrCache>
                <c:ptCount val="1"/>
                <c:lvl>
                  <c:pt idx="0">
                    <c:v>CEEW</c:v>
                  </c:pt>
                </c:lvl>
              </c:multiLvlStrCache>
            </c:multiLvlStrRef>
          </c:cat>
          <c:val>
            <c:numRef>
              <c:f>Sheet1!$B$2:$B$2</c:f>
              <c:numCache>
                <c:formatCode>General</c:formatCode>
                <c:ptCount val="1"/>
                <c:pt idx="0">
                  <c:v>1</c:v>
                </c:pt>
              </c:numCache>
            </c:numRef>
          </c:val>
        </c:ser>
        <c:dLbls>
          <c:numFmt formatCode="#,##0" sourceLinked="0"/>
          <c:txPr>
            <a:bodyPr/>
            <a:lstStyle/>
            <a:p>
              <a:pPr>
                <a:defRPr b="0" i="0" strike="noStrike" sz="1100" u="none">
                  <a:solidFill>
                    <a:srgbClr val="D8E4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F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d4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8F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81E2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CEEW</c:v>
                </c:pt>
              </c:strCache>
            </c:strRef>
          </c:tx>
          <c:spPr>
            <a:solidFill>
              <a:srgbClr val="3D8EF0"/>
            </a:solidFill>
            <a:ln w="38100" cap="flat">
              <a:solidFill>
                <a:srgbClr val="3D8EF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D8EF0"/>
              </a:solidFill>
              <a:ln w="9525" cap="flat">
                <a:solidFill>
                  <a:srgbClr val="3D8EF0"/>
                </a:solidFill>
                <a:prstDash val="solid"/>
                <a:round/>
              </a:ln>
              <a:effectLst/>
            </c:spPr>
          </c:marker>
          <c:cat>
            <c:multiLvlStrRef>
              <c:f>Sheet1!$A$2:$A$14</c:f>
              <c:multiLvlStrCache>
                <c:ptCount val="13"/>
                <c:lvl>
                  <c:pt idx="0">
                    <c:v>03-08</c:v>
                  </c:pt>
                  <c:pt idx="1">
                    <c:v>03-15</c:v>
                  </c:pt>
                  <c:pt idx="2">
                    <c:v>03-22</c:v>
                  </c:pt>
                  <c:pt idx="3">
                    <c:v>03-29</c:v>
                  </c:pt>
                  <c:pt idx="4">
                    <c:v>04-05</c:v>
                  </c:pt>
                  <c:pt idx="5">
                    <c:v>04-12</c:v>
                  </c:pt>
                  <c:pt idx="6">
                    <c:v>04-19</c:v>
                  </c:pt>
                  <c:pt idx="7">
                    <c:v>04-26</c:v>
                  </c:pt>
                  <c:pt idx="8">
                    <c:v>05-03</c:v>
                  </c:pt>
                  <c:pt idx="9">
                    <c:v>05-10</c:v>
                  </c:pt>
                  <c:pt idx="10">
                    <c:v>05-17</c:v>
                  </c:pt>
                  <c:pt idx="11">
                    <c:v>05-24</c:v>
                  </c:pt>
                  <c:pt idx="12">
                    <c:v>05-31</c:v>
                  </c:pt>
                </c:lvl>
              </c:multiLvlStrCache>
            </c:multiLvlStrRef>
          </c:cat>
          <c:val>
            <c:numRef>
              <c:f>Sheet1!$B$2:$B$14</c:f>
              <c:numCache>
                <c:formatCode>General</c:formatCode>
                <c:ptCount val="13"/>
                <c:pt idx="0">
                  <c:v>0</c:v>
                </c:pt>
                <c:pt idx="1">
                  <c:v>0</c:v>
                </c:pt>
                <c:pt idx="2">
                  <c:v>0</c:v>
                </c:pt>
                <c:pt idx="3">
                  <c:v>0</c:v>
                </c:pt>
                <c:pt idx="4">
                  <c:v>0</c:v>
                </c:pt>
                <c:pt idx="5">
                  <c:v>0</c:v>
                </c:pt>
                <c:pt idx="6">
                  <c:v>0</c:v>
                </c:pt>
                <c:pt idx="7">
                  <c:v>0</c:v>
                </c:pt>
                <c:pt idx="8">
                  <c:v>0</c:v>
                </c:pt>
                <c:pt idx="9">
                  <c:v>0</c:v>
                </c:pt>
                <c:pt idx="10">
                  <c:v>1</c:v>
                </c:pt>
                <c:pt idx="11">
                  <c:v>0</c:v>
                </c:pt>
                <c:pt idx="12">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F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d4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8FA3B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D8E4F0"/>
              </a:solidFill>
            </a:defRPr>
          </a:pPr>
          <a:endParaRPr lang="en-US"/>
        </a:p>
      </c:txPr>
    </c:legend>
    <c:plotVisOnly val="1"/>
    <c:dispBlanksAs val="span"/>
  </c:chart>
  <c:spPr>
    <a:solidFill>
      <a:srgbClr val="181E2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Primary Source %</c:v>
                </c:pt>
              </c:strCache>
            </c:strRef>
          </c:tx>
          <c:spPr>
            <a:solidFill>
              <a:srgbClr val="4CAF74"/>
            </a:solidFill>
            <a:effectLst/>
          </c:spPr>
          <c:invertIfNegative val="0"/>
          <c:dLbls>
            <c:numFmt formatCode="#,##0" sourceLinked="0"/>
            <c:txPr>
              <a:bodyPr/>
              <a:lstStyle/>
              <a:p>
                <a:pPr>
                  <a:defRPr b="0" i="0" strike="noStrike" sz="1000" u="none">
                    <a:solidFill>
                      <a:srgbClr val="D8E4F0"/>
                    </a:solidFill>
                    <a:latin typeface="Arial"/>
                  </a:defRPr>
                </a:pPr>
              </a:p>
            </c:txPr>
            <c:showLegendKey val="0"/>
            <c:showVal val="1"/>
            <c:showCatName val="0"/>
            <c:showSerName val="0"/>
            <c:showPercent val="0"/>
            <c:showBubbleSize val="0"/>
            <c:showLeaderLines val="0"/>
          </c:dLbls>
          <c:cat>
            <c:multiLvlStrRef>
              <c:f>Sheet1!$A$2:$A$2</c:f>
              <c:multiLvlStrCache>
                <c:ptCount val="1"/>
                <c:lvl>
                  <c:pt idx="0">
                    <c:v>CEEW</c:v>
                  </c:pt>
                </c:lvl>
              </c:multiLvlStrCache>
            </c:multiLvlStrRef>
          </c:cat>
          <c:val>
            <c:numRef>
              <c:f>Sheet1!$B$2:$B$2</c:f>
              <c:numCache>
                <c:formatCode>General</c:formatCode>
                <c:ptCount val="1"/>
                <c:pt idx="0">
                  <c:v>0</c:v>
                </c:pt>
              </c:numCache>
            </c:numRef>
          </c:val>
        </c:ser>
        <c:ser>
          <c:idx val="1"/>
          <c:order val="1"/>
          <c:tx>
            <c:strRef>
              <c:f>Sheet1!$C$1</c:f>
              <c:strCache>
                <c:ptCount val="1"/>
                <c:pt idx="0">
                  <c:v>Data Cited %</c:v>
                </c:pt>
              </c:strCache>
            </c:strRef>
          </c:tx>
          <c:spPr>
            <a:solidFill>
              <a:srgbClr val="C9922A"/>
            </a:solidFill>
            <a:effectLst/>
          </c:spPr>
          <c:invertIfNegative val="0"/>
          <c:dLbls>
            <c:numFmt formatCode="#,##0" sourceLinked="0"/>
            <c:txPr>
              <a:bodyPr/>
              <a:lstStyle/>
              <a:p>
                <a:pPr>
                  <a:defRPr b="0" i="0" strike="noStrike" sz="1000" u="none">
                    <a:solidFill>
                      <a:srgbClr val="D8E4F0"/>
                    </a:solidFill>
                    <a:latin typeface="Arial"/>
                  </a:defRPr>
                </a:pPr>
              </a:p>
            </c:txPr>
            <c:showLegendKey val="0"/>
            <c:showVal val="1"/>
            <c:showCatName val="0"/>
            <c:showSerName val="0"/>
            <c:showPercent val="0"/>
            <c:showBubbleSize val="0"/>
            <c:showLeaderLines val="0"/>
          </c:dLbls>
          <c:cat>
            <c:multiLvlStrRef>
              <c:f>Sheet1!$A$2:$A$2</c:f>
              <c:multiLvlStrCache>
                <c:ptCount val="1"/>
                <c:lvl>
                  <c:pt idx="0">
                    <c:v>CEEW</c:v>
                  </c:pt>
                </c:lvl>
              </c:multiLvlStrCache>
            </c:multiLvlStrRef>
          </c:cat>
          <c:val>
            <c:numRef>
              <c:f>Sheet1!$C$2:$C$2</c:f>
              <c:numCache>
                <c:formatCode>General</c:formatCode>
                <c:ptCount val="1"/>
                <c:pt idx="0">
                  <c:v>0</c:v>
                </c:pt>
              </c:numCache>
            </c:numRef>
          </c:val>
        </c:ser>
        <c:dLbls>
          <c:numFmt formatCode="#,##0" sourceLinked="0"/>
          <c:txPr>
            <a:bodyPr/>
            <a:lstStyle/>
            <a:p>
              <a:pPr>
                <a:defRPr b="0" i="0" strike="noStrike" sz="1000" u="none">
                  <a:solidFill>
                    <a:srgbClr val="D8E4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F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52d4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8FA3B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D8E4F0"/>
              </a:solidFill>
            </a:defRPr>
          </a:pPr>
          <a:endParaRPr lang="en-US"/>
        </a:p>
      </c:txPr>
    </c:legend>
    <c:plotVisOnly val="1"/>
    <c:dispBlanksAs val="span"/>
  </c:chart>
  <c:spPr>
    <a:solidFill>
      <a:srgbClr val="181E2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AEO Score</c:v>
                </c:pt>
              </c:strCache>
            </c:strRef>
          </c:tx>
          <c:spPr>
            <a:solidFill>
              <a:srgbClr val="3D8EF0"/>
            </a:solidFill>
            <a:effectLst/>
          </c:spPr>
          <c:invertIfNegative val="0"/>
          <c:dLbls>
            <c:numFmt formatCode="#,##0" sourceLinked="0"/>
            <c:txPr>
              <a:bodyPr/>
              <a:lstStyle/>
              <a:p>
                <a:pPr>
                  <a:defRPr b="0" i="0" strike="noStrike" sz="1200" u="none">
                    <a:solidFill>
                      <a:srgbClr val="D8E4F0"/>
                    </a:solidFill>
                    <a:latin typeface="Arial"/>
                  </a:defRPr>
                </a:pPr>
              </a:p>
            </c:txPr>
            <c:showLegendKey val="0"/>
            <c:showVal val="1"/>
            <c:showCatName val="0"/>
            <c:showSerName val="0"/>
            <c:showPercent val="0"/>
            <c:showBubbleSize val="0"/>
            <c:showLeaderLines val="0"/>
          </c:dLbls>
          <c:cat>
            <c:multiLvlStrRef>
              <c:f>Sheet1!$A$2:$A$2</c:f>
              <c:multiLvlStrCache>
                <c:ptCount val="1"/>
                <c:lvl>
                  <c:pt idx="0">
                    <c:v>CEEW</c:v>
                  </c:pt>
                </c:lvl>
              </c:multiLvlStrCache>
            </c:multiLvlStrRef>
          </c:cat>
          <c:val>
            <c:numRef>
              <c:f>Sheet1!$B$2:$B$2</c:f>
              <c:numCache>
                <c:formatCode>General</c:formatCode>
                <c:ptCount val="1"/>
                <c:pt idx="0">
                  <c:v>18</c:v>
                </c:pt>
              </c:numCache>
            </c:numRef>
          </c:val>
        </c:ser>
        <c:dLbls>
          <c:numFmt formatCode="#,##0" sourceLinked="0"/>
          <c:txPr>
            <a:bodyPr/>
            <a:lstStyle/>
            <a:p>
              <a:pPr>
                <a:defRPr b="0" i="0" strike="noStrike" sz="1200" u="none">
                  <a:solidFill>
                    <a:srgbClr val="D8E4F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8FA3B8"/>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6350" cap="flat">
              <a:solidFill>
                <a:srgbClr val="252d4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8F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81E2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61520" cy="2194560"/>
          </a:xfrm>
          <a:prstGeom prst="rect">
            <a:avLst/>
          </a:prstGeom>
          <a:solidFill>
            <a:srgbClr val="111520"/>
          </a:solidFill>
          <a:ln w="12700">
            <a:solidFill>
              <a:srgbClr val="111520"/>
            </a:solidFill>
            <a:prstDash val="solid"/>
          </a:ln>
        </p:spPr>
      </p:sp>
      <p:sp>
        <p:nvSpPr>
          <p:cNvPr id="3" name="Text 1"/>
          <p:cNvSpPr/>
          <p:nvPr/>
        </p:nvSpPr>
        <p:spPr>
          <a:xfrm>
            <a:off x="548640" y="438912"/>
            <a:ext cx="10972800" cy="347472"/>
          </a:xfrm>
          <a:prstGeom prst="rect">
            <a:avLst/>
          </a:prstGeom>
          <a:noFill/>
          <a:ln/>
        </p:spPr>
        <p:txBody>
          <a:bodyPr wrap="square" rtlCol="0" anchor="ctr"/>
          <a:lstStyle/>
          <a:p>
            <a:pPr indent="0" marL="0">
              <a:buNone/>
            </a:pPr>
            <a:r>
              <a:rPr lang="en-US" sz="1100" b="1" spc="400" kern="0" dirty="0">
                <a:solidFill>
                  <a:srgbClr val="C9922A"/>
                </a:solidFill>
                <a:latin typeface="Calibri" pitchFamily="34" charset="0"/>
                <a:ea typeface="Calibri" pitchFamily="34" charset="-122"/>
                <a:cs typeface="Calibri" pitchFamily="34" charset="-120"/>
              </a:rPr>
              <a:t>AIR QUALITY MEDIA INTELLIGENCE</a:t>
            </a:r>
            <a:endParaRPr lang="en-US" sz="1100" dirty="0"/>
          </a:p>
        </p:txBody>
      </p:sp>
      <p:sp>
        <p:nvSpPr>
          <p:cNvPr id="4" name="Text 2"/>
          <p:cNvSpPr/>
          <p:nvPr/>
        </p:nvSpPr>
        <p:spPr>
          <a:xfrm>
            <a:off x="548640" y="841248"/>
            <a:ext cx="9144000" cy="1188720"/>
          </a:xfrm>
          <a:prstGeom prst="rect">
            <a:avLst/>
          </a:prstGeom>
          <a:noFill/>
          <a:ln/>
        </p:spPr>
        <p:txBody>
          <a:bodyPr wrap="square" rtlCol="0" anchor="ctr"/>
          <a:lstStyle/>
          <a:p>
            <a:pPr indent="0" marL="0">
              <a:buNone/>
            </a:pPr>
            <a:r>
              <a:rPr lang="en-US" sz="3600" b="1" dirty="0">
                <a:solidFill>
                  <a:srgbClr val="D8E4F0"/>
                </a:solidFill>
                <a:latin typeface="Cambria" pitchFamily="34" charset="0"/>
                <a:ea typeface="Cambria" pitchFamily="34" charset="-122"/>
                <a:cs typeface="Cambria" pitchFamily="34" charset="-120"/>
              </a:rPr>
              <a:t>Air Quality</a:t>
            </a:r>
            <a:endParaRPr lang="en-US" sz="3600" dirty="0"/>
          </a:p>
          <a:p>
            <a:pPr indent="0" marL="0">
              <a:buNone/>
            </a:pPr>
            <a:r>
              <a:rPr lang="en-US" sz="3600" b="1" dirty="0">
                <a:solidFill>
                  <a:srgbClr val="D8E4F0"/>
                </a:solidFill>
                <a:latin typeface="Cambria" pitchFamily="34" charset="0"/>
                <a:ea typeface="Cambria" pitchFamily="34" charset="-122"/>
                <a:cs typeface="Cambria" pitchFamily="34" charset="-120"/>
              </a:rPr>
              <a:t>TRIPLE Media Analytics</a:t>
            </a:r>
            <a:endParaRPr lang="en-US" sz="3600" dirty="0"/>
          </a:p>
        </p:txBody>
      </p:sp>
      <p:sp>
        <p:nvSpPr>
          <p:cNvPr id="5" name="Shape 3"/>
          <p:cNvSpPr/>
          <p:nvPr/>
        </p:nvSpPr>
        <p:spPr>
          <a:xfrm>
            <a:off x="548640" y="2331720"/>
            <a:ext cx="2103120" cy="402336"/>
          </a:xfrm>
          <a:prstGeom prst="roundRect">
            <a:avLst>
              <a:gd name="adj" fmla="val 11364"/>
            </a:avLst>
          </a:prstGeom>
          <a:solidFill>
            <a:srgbClr val="3D8EF0">
              <a:alpha val="18000"/>
            </a:srgbClr>
          </a:solidFill>
          <a:ln w="12700">
            <a:solidFill>
              <a:srgbClr val="3D8EF0"/>
            </a:solidFill>
            <a:prstDash val="solid"/>
          </a:ln>
        </p:spPr>
      </p:sp>
      <p:sp>
        <p:nvSpPr>
          <p:cNvPr id="6" name="Text 4"/>
          <p:cNvSpPr/>
          <p:nvPr/>
        </p:nvSpPr>
        <p:spPr>
          <a:xfrm>
            <a:off x="548640" y="2331720"/>
            <a:ext cx="2103120" cy="402336"/>
          </a:xfrm>
          <a:prstGeom prst="rect">
            <a:avLst/>
          </a:prstGeom>
          <a:noFill/>
          <a:ln/>
        </p:spPr>
        <p:txBody>
          <a:bodyPr wrap="square" rtlCol="0" anchor="ctr"/>
          <a:lstStyle/>
          <a:p>
            <a:pPr algn="ctr" indent="0" marL="0">
              <a:buNone/>
            </a:pPr>
            <a:r>
              <a:rPr lang="en-US" sz="1300" b="1" dirty="0">
                <a:solidFill>
                  <a:srgbClr val="D8E4F0"/>
                </a:solidFill>
                <a:latin typeface="Calibri" pitchFamily="34" charset="0"/>
                <a:ea typeface="Calibri" pitchFamily="34" charset="-122"/>
                <a:cs typeface="Calibri" pitchFamily="34" charset="-120"/>
              </a:rPr>
              <a:t>CEEW</a:t>
            </a:r>
            <a:endParaRPr lang="en-US" sz="1300" dirty="0"/>
          </a:p>
        </p:txBody>
      </p:sp>
      <p:sp>
        <p:nvSpPr>
          <p:cNvPr id="7" name="Text 5"/>
          <p:cNvSpPr/>
          <p:nvPr/>
        </p:nvSpPr>
        <p:spPr>
          <a:xfrm>
            <a:off x="548640" y="2926080"/>
            <a:ext cx="5486400" cy="256032"/>
          </a:xfrm>
          <a:prstGeom prst="rect">
            <a:avLst/>
          </a:prstGeom>
          <a:noFill/>
          <a:ln/>
        </p:spPr>
        <p:txBody>
          <a:bodyPr wrap="square" rtlCol="0" anchor="ctr"/>
          <a:lstStyle/>
          <a:p>
            <a:pPr indent="0" marL="0">
              <a:buNone/>
            </a:pPr>
            <a:r>
              <a:rPr lang="en-US" sz="1200" dirty="0">
                <a:solidFill>
                  <a:srgbClr val="8FA3B8"/>
                </a:solidFill>
                <a:latin typeface="Calibri" pitchFamily="34" charset="0"/>
                <a:ea typeface="Calibri" pitchFamily="34" charset="-122"/>
                <a:cs typeface="Calibri" pitchFamily="34" charset="-120"/>
              </a:rPr>
              <a:t>Period: 2026-03-08  →  2026-06-08</a:t>
            </a:r>
            <a:endParaRPr lang="en-US" sz="1200" dirty="0"/>
          </a:p>
        </p:txBody>
      </p:sp>
      <p:sp>
        <p:nvSpPr>
          <p:cNvPr id="8" name="Text 6"/>
          <p:cNvSpPr/>
          <p:nvPr/>
        </p:nvSpPr>
        <p:spPr>
          <a:xfrm>
            <a:off x="7315200" y="2926080"/>
            <a:ext cx="2286000" cy="237744"/>
          </a:xfrm>
          <a:prstGeom prst="rect">
            <a:avLst/>
          </a:prstGeom>
          <a:noFill/>
          <a:ln/>
        </p:spPr>
        <p:txBody>
          <a:bodyPr wrap="square" rtlCol="0" anchor="ctr"/>
          <a:lstStyle/>
          <a:p>
            <a:pPr indent="0" marL="0">
              <a:buNone/>
            </a:pPr>
            <a:r>
              <a:rPr lang="en-US" sz="1000" dirty="0">
                <a:solidFill>
                  <a:srgbClr val="4CAF74"/>
                </a:solidFill>
                <a:latin typeface="Calibri" pitchFamily="34" charset="0"/>
                <a:ea typeface="Calibri" pitchFamily="34" charset="-122"/>
                <a:cs typeface="Calibri" pitchFamily="34" charset="-120"/>
              </a:rPr>
              <a:t>✓ LLM Visibility</a:t>
            </a:r>
            <a:endParaRPr lang="en-US" sz="1000" dirty="0"/>
          </a:p>
        </p:txBody>
      </p:sp>
      <p:sp>
        <p:nvSpPr>
          <p:cNvPr id="9" name="Text 7"/>
          <p:cNvSpPr/>
          <p:nvPr/>
        </p:nvSpPr>
        <p:spPr>
          <a:xfrm>
            <a:off x="7315200" y="3218688"/>
            <a:ext cx="4846320" cy="237744"/>
          </a:xfrm>
          <a:prstGeom prst="rect">
            <a:avLst/>
          </a:prstGeom>
          <a:noFill/>
          <a:ln/>
        </p:spPr>
        <p:txBody>
          <a:bodyPr wrap="square" rtlCol="0" anchor="ctr"/>
          <a:lstStyle/>
          <a:p>
            <a:pPr indent="0" marL="0">
              <a:buNone/>
            </a:pPr>
            <a:r>
              <a:rPr lang="en-US" sz="1000" dirty="0">
                <a:solidFill>
                  <a:srgbClr val="4CAF74"/>
                </a:solidFill>
                <a:latin typeface="Calibri" pitchFamily="34" charset="0"/>
                <a:ea typeface="Calibri" pitchFamily="34" charset="-122"/>
                <a:cs typeface="Calibri" pitchFamily="34" charset="-120"/>
              </a:rPr>
              <a:t>✓ Social: X/Twitter · Instagram · LinkedIn</a:t>
            </a:r>
            <a:endParaRPr lang="en-US" sz="1000" dirty="0"/>
          </a:p>
        </p:txBody>
      </p:sp>
      <p:sp>
        <p:nvSpPr>
          <p:cNvPr id="10" name="Text 8"/>
          <p:cNvSpPr/>
          <p:nvPr/>
        </p:nvSpPr>
        <p:spPr>
          <a:xfrm>
            <a:off x="548640" y="6492240"/>
            <a:ext cx="10972800" cy="237744"/>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Prepared for Chetan Bhattacharji · Generated 2026-06-17 · CONFIDENTIAL</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01</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Executive Summary</a:t>
            </a:r>
            <a:endParaRPr lang="en-US" sz="2800" dirty="0"/>
          </a:p>
        </p:txBody>
      </p:sp>
      <p:sp>
        <p:nvSpPr>
          <p:cNvPr id="4" name="Shape 2"/>
          <p:cNvSpPr/>
          <p:nvPr/>
        </p:nvSpPr>
        <p:spPr>
          <a:xfrm>
            <a:off x="457200" y="1170432"/>
            <a:ext cx="11247120" cy="1316736"/>
          </a:xfrm>
          <a:prstGeom prst="roundRect">
            <a:avLst>
              <a:gd name="adj" fmla="val 5556"/>
            </a:avLst>
          </a:prstGeom>
          <a:solidFill>
            <a:srgbClr val="111520"/>
          </a:solidFill>
          <a:ln w="6350">
            <a:solidFill>
              <a:srgbClr val="252D40"/>
            </a:solidFill>
            <a:prstDash val="solid"/>
          </a:ln>
        </p:spPr>
      </p:sp>
      <p:sp>
        <p:nvSpPr>
          <p:cNvPr id="5" name="Text 3"/>
          <p:cNvSpPr/>
          <p:nvPr/>
        </p:nvSpPr>
        <p:spPr>
          <a:xfrm>
            <a:off x="594360" y="1261872"/>
            <a:ext cx="457200" cy="822960"/>
          </a:xfrm>
          <a:prstGeom prst="rect">
            <a:avLst/>
          </a:prstGeom>
          <a:noFill/>
          <a:ln/>
        </p:spPr>
        <p:txBody>
          <a:bodyPr wrap="square" rtlCol="0" anchor="ctr"/>
          <a:lstStyle/>
          <a:p>
            <a:pPr indent="0" marL="0">
              <a:buNone/>
            </a:pPr>
            <a:r>
              <a:rPr lang="en-US" sz="3600" dirty="0">
                <a:solidFill>
                  <a:srgbClr val="C9922A"/>
                </a:solidFill>
                <a:latin typeface="Cambria" pitchFamily="34" charset="0"/>
                <a:ea typeface="Cambria" pitchFamily="34" charset="-122"/>
                <a:cs typeface="Cambria" pitchFamily="34" charset="-120"/>
              </a:rPr>
              <a:t>1</a:t>
            </a:r>
            <a:endParaRPr lang="en-US" sz="3600" dirty="0"/>
          </a:p>
        </p:txBody>
      </p:sp>
      <p:sp>
        <p:nvSpPr>
          <p:cNvPr id="6" name="Text 4"/>
          <p:cNvSpPr/>
          <p:nvPr/>
        </p:nvSpPr>
        <p:spPr>
          <a:xfrm>
            <a:off x="1188720" y="1280160"/>
            <a:ext cx="9875520" cy="347472"/>
          </a:xfrm>
          <a:prstGeom prst="rect">
            <a:avLst/>
          </a:prstGeom>
          <a:noFill/>
          <a:ln/>
        </p:spPr>
        <p:txBody>
          <a:bodyPr wrap="square" rtlCol="0" anchor="ctr"/>
          <a:lstStyle/>
          <a:p>
            <a:pPr indent="0" marL="0">
              <a:buNone/>
            </a:pPr>
            <a:r>
              <a:rPr lang="en-US" sz="1400" b="1" dirty="0">
                <a:solidFill>
                  <a:srgbClr val="D8E4F0"/>
                </a:solidFill>
                <a:latin typeface="Calibri" pitchFamily="34" charset="0"/>
                <a:ea typeface="Calibri" pitchFamily="34" charset="-122"/>
                <a:cs typeface="Calibri" pitchFamily="34" charset="-120"/>
              </a:rPr>
              <a:t>CEEW Generated Single Article on Indian Air Quality</a:t>
            </a:r>
            <a:endParaRPr lang="en-US" sz="1400" dirty="0"/>
          </a:p>
        </p:txBody>
      </p:sp>
      <p:sp>
        <p:nvSpPr>
          <p:cNvPr id="7" name="Text 5"/>
          <p:cNvSpPr/>
          <p:nvPr/>
        </p:nvSpPr>
        <p:spPr>
          <a:xfrm>
            <a:off x="1188720" y="1664208"/>
            <a:ext cx="9875520" cy="658368"/>
          </a:xfrm>
          <a:prstGeom prst="rect">
            <a:avLst/>
          </a:prstGeom>
          <a:noFill/>
          <a:ln/>
        </p:spPr>
        <p:txBody>
          <a:bodyPr wrap="square" rtlCol="0" anchor="ctr"/>
          <a:lstStyle/>
          <a:p>
            <a:pPr indent="0" marL="0">
              <a:buNone/>
            </a:pPr>
            <a:r>
              <a:rPr lang="en-US" sz="1100" dirty="0">
                <a:solidFill>
                  <a:srgbClr val="8FA3B8"/>
                </a:solidFill>
                <a:latin typeface="Calibri" pitchFamily="34" charset="0"/>
                <a:ea typeface="Calibri" pitchFamily="34" charset="-122"/>
                <a:cs typeface="Calibri" pitchFamily="34" charset="-120"/>
              </a:rPr>
              <a:t>CEEW produced 1 article on Indian air quality during the March-June 2026 period. This represents minimal output volume for an environmental research organization during a four-month monitoring window.</a:t>
            </a:r>
            <a:endParaRPr lang="en-US" sz="1100" dirty="0"/>
          </a:p>
        </p:txBody>
      </p:sp>
      <p:sp>
        <p:nvSpPr>
          <p:cNvPr id="8" name="Shape 6"/>
          <p:cNvSpPr/>
          <p:nvPr/>
        </p:nvSpPr>
        <p:spPr>
          <a:xfrm>
            <a:off x="457200" y="2615184"/>
            <a:ext cx="11247120" cy="1316736"/>
          </a:xfrm>
          <a:prstGeom prst="roundRect">
            <a:avLst>
              <a:gd name="adj" fmla="val 5556"/>
            </a:avLst>
          </a:prstGeom>
          <a:solidFill>
            <a:srgbClr val="111520"/>
          </a:solidFill>
          <a:ln w="6350">
            <a:solidFill>
              <a:srgbClr val="252D40"/>
            </a:solidFill>
            <a:prstDash val="solid"/>
          </a:ln>
        </p:spPr>
      </p:sp>
      <p:sp>
        <p:nvSpPr>
          <p:cNvPr id="9" name="Text 7"/>
          <p:cNvSpPr/>
          <p:nvPr/>
        </p:nvSpPr>
        <p:spPr>
          <a:xfrm>
            <a:off x="594360" y="2706624"/>
            <a:ext cx="457200" cy="822960"/>
          </a:xfrm>
          <a:prstGeom prst="rect">
            <a:avLst/>
          </a:prstGeom>
          <a:noFill/>
          <a:ln/>
        </p:spPr>
        <p:txBody>
          <a:bodyPr wrap="square" rtlCol="0" anchor="ctr"/>
          <a:lstStyle/>
          <a:p>
            <a:pPr indent="0" marL="0">
              <a:buNone/>
            </a:pPr>
            <a:r>
              <a:rPr lang="en-US" sz="3600" dirty="0">
                <a:solidFill>
                  <a:srgbClr val="C9922A"/>
                </a:solidFill>
                <a:latin typeface="Cambria" pitchFamily="34" charset="0"/>
                <a:ea typeface="Cambria" pitchFamily="34" charset="-122"/>
                <a:cs typeface="Cambria" pitchFamily="34" charset="-120"/>
              </a:rPr>
              <a:t>2</a:t>
            </a:r>
            <a:endParaRPr lang="en-US" sz="3600" dirty="0"/>
          </a:p>
        </p:txBody>
      </p:sp>
      <p:sp>
        <p:nvSpPr>
          <p:cNvPr id="10" name="Text 8"/>
          <p:cNvSpPr/>
          <p:nvPr/>
        </p:nvSpPr>
        <p:spPr>
          <a:xfrm>
            <a:off x="1188720" y="2724912"/>
            <a:ext cx="9875520" cy="347472"/>
          </a:xfrm>
          <a:prstGeom prst="rect">
            <a:avLst/>
          </a:prstGeom>
          <a:noFill/>
          <a:ln/>
        </p:spPr>
        <p:txBody>
          <a:bodyPr wrap="square" rtlCol="0" anchor="ctr"/>
          <a:lstStyle/>
          <a:p>
            <a:pPr indent="0" marL="0">
              <a:buNone/>
            </a:pPr>
            <a:r>
              <a:rPr lang="en-US" sz="1400" b="1" dirty="0">
                <a:solidFill>
                  <a:srgbClr val="D8E4F0"/>
                </a:solidFill>
                <a:latin typeface="Calibri" pitchFamily="34" charset="0"/>
                <a:ea typeface="Calibri" pitchFamily="34" charset="-122"/>
                <a:cs typeface="Calibri" pitchFamily="34" charset="-120"/>
              </a:rPr>
              <a:t>Times of India Only Outlet Carrying CEEW Air Quality Content</a:t>
            </a:r>
            <a:endParaRPr lang="en-US" sz="1400" dirty="0"/>
          </a:p>
        </p:txBody>
      </p:sp>
      <p:sp>
        <p:nvSpPr>
          <p:cNvPr id="11" name="Text 9"/>
          <p:cNvSpPr/>
          <p:nvPr/>
        </p:nvSpPr>
        <p:spPr>
          <a:xfrm>
            <a:off x="1188720" y="3108960"/>
            <a:ext cx="9875520" cy="658368"/>
          </a:xfrm>
          <a:prstGeom prst="rect">
            <a:avLst/>
          </a:prstGeom>
          <a:noFill/>
          <a:ln/>
        </p:spPr>
        <p:txBody>
          <a:bodyPr wrap="square" rtlCol="0" anchor="ctr"/>
          <a:lstStyle/>
          <a:p>
            <a:pPr indent="0" marL="0">
              <a:buNone/>
            </a:pPr>
            <a:r>
              <a:rPr lang="en-US" sz="1100" dirty="0">
                <a:solidFill>
                  <a:srgbClr val="8FA3B8"/>
                </a:solidFill>
                <a:latin typeface="Calibri" pitchFamily="34" charset="0"/>
                <a:ea typeface="Calibri" pitchFamily="34" charset="-122"/>
                <a:cs typeface="Calibri" pitchFamily="34" charset="-120"/>
              </a:rPr>
              <a:t>CEEW's single air quality article appeared exclusively in Times of India, with zero placement across alternative outlets. This concentration indicates limited media distribution reach for CEEW's air quality research during the period.</a:t>
            </a:r>
            <a:endParaRPr lang="en-US" sz="1100" dirty="0"/>
          </a:p>
        </p:txBody>
      </p:sp>
      <p:sp>
        <p:nvSpPr>
          <p:cNvPr id="12" name="Shape 10"/>
          <p:cNvSpPr/>
          <p:nvPr/>
        </p:nvSpPr>
        <p:spPr>
          <a:xfrm>
            <a:off x="457200" y="4059936"/>
            <a:ext cx="11247120" cy="1316736"/>
          </a:xfrm>
          <a:prstGeom prst="roundRect">
            <a:avLst>
              <a:gd name="adj" fmla="val 5556"/>
            </a:avLst>
          </a:prstGeom>
          <a:solidFill>
            <a:srgbClr val="111520"/>
          </a:solidFill>
          <a:ln w="6350">
            <a:solidFill>
              <a:srgbClr val="252D40"/>
            </a:solidFill>
            <a:prstDash val="solid"/>
          </a:ln>
        </p:spPr>
      </p:sp>
      <p:sp>
        <p:nvSpPr>
          <p:cNvPr id="13" name="Text 11"/>
          <p:cNvSpPr/>
          <p:nvPr/>
        </p:nvSpPr>
        <p:spPr>
          <a:xfrm>
            <a:off x="594360" y="4151376"/>
            <a:ext cx="457200" cy="822960"/>
          </a:xfrm>
          <a:prstGeom prst="rect">
            <a:avLst/>
          </a:prstGeom>
          <a:noFill/>
          <a:ln/>
        </p:spPr>
        <p:txBody>
          <a:bodyPr wrap="square" rtlCol="0" anchor="ctr"/>
          <a:lstStyle/>
          <a:p>
            <a:pPr indent="0" marL="0">
              <a:buNone/>
            </a:pPr>
            <a:r>
              <a:rPr lang="en-US" sz="3600" dirty="0">
                <a:solidFill>
                  <a:srgbClr val="C9922A"/>
                </a:solidFill>
                <a:latin typeface="Cambria" pitchFamily="34" charset="0"/>
                <a:ea typeface="Cambria" pitchFamily="34" charset="-122"/>
                <a:cs typeface="Cambria" pitchFamily="34" charset="-120"/>
              </a:rPr>
              <a:t>3</a:t>
            </a:r>
            <a:endParaRPr lang="en-US" sz="3600" dirty="0"/>
          </a:p>
        </p:txBody>
      </p:sp>
      <p:sp>
        <p:nvSpPr>
          <p:cNvPr id="14" name="Text 12"/>
          <p:cNvSpPr/>
          <p:nvPr/>
        </p:nvSpPr>
        <p:spPr>
          <a:xfrm>
            <a:off x="1188720" y="4169664"/>
            <a:ext cx="9875520" cy="347472"/>
          </a:xfrm>
          <a:prstGeom prst="rect">
            <a:avLst/>
          </a:prstGeom>
          <a:noFill/>
          <a:ln/>
        </p:spPr>
        <p:txBody>
          <a:bodyPr wrap="square" rtlCol="0" anchor="ctr"/>
          <a:lstStyle/>
          <a:p>
            <a:pPr indent="0" marL="0">
              <a:buNone/>
            </a:pPr>
            <a:r>
              <a:rPr lang="en-US" sz="1400" b="1" dirty="0">
                <a:solidFill>
                  <a:srgbClr val="D8E4F0"/>
                </a:solidFill>
                <a:latin typeface="Calibri" pitchFamily="34" charset="0"/>
                <a:ea typeface="Calibri" pitchFamily="34" charset="-122"/>
                <a:cs typeface="Calibri" pitchFamily="34" charset="-120"/>
              </a:rPr>
              <a:t>CEEW Absent from Social Media Air Quality Visibility</a:t>
            </a:r>
            <a:endParaRPr lang="en-US" sz="1400" dirty="0"/>
          </a:p>
        </p:txBody>
      </p:sp>
      <p:sp>
        <p:nvSpPr>
          <p:cNvPr id="15" name="Text 13"/>
          <p:cNvSpPr/>
          <p:nvPr/>
        </p:nvSpPr>
        <p:spPr>
          <a:xfrm>
            <a:off x="1188720" y="4553712"/>
            <a:ext cx="9875520" cy="658368"/>
          </a:xfrm>
          <a:prstGeom prst="rect">
            <a:avLst/>
          </a:prstGeom>
          <a:noFill/>
          <a:ln/>
        </p:spPr>
        <p:txBody>
          <a:bodyPr wrap="square" rtlCol="0" anchor="ctr"/>
          <a:lstStyle/>
          <a:p>
            <a:pPr indent="0" marL="0">
              <a:buNone/>
            </a:pPr>
            <a:r>
              <a:rPr lang="en-US" sz="1100" dirty="0">
                <a:solidFill>
                  <a:srgbClr val="8FA3B8"/>
                </a:solidFill>
                <a:latin typeface="Calibri" pitchFamily="34" charset="0"/>
                <a:ea typeface="Calibri" pitchFamily="34" charset="-122"/>
                <a:cs typeface="Calibri" pitchFamily="34" charset="-120"/>
              </a:rPr>
              <a:t>CEEW recorded zero social media engagement across YouTube (0), Twitter (0), Instagram (0), and LinkedIn (0) for air quality coverage. Combined with an AEO visibility score of 18/100, CEEW demonstrated negligible digital prominence for this topic.</a:t>
            </a:r>
            <a:endParaRPr lang="en-US" sz="1100" dirty="0"/>
          </a:p>
        </p:txBody>
      </p:sp>
      <p:sp>
        <p:nvSpPr>
          <p:cNvPr id="16" name="Text 14"/>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03</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Share of Voice</a:t>
            </a:r>
            <a:endParaRPr lang="en-US" sz="2800" dirty="0"/>
          </a:p>
        </p:txBody>
      </p:sp>
      <p:graphicFrame>
        <p:nvGraphicFramePr>
          <p:cNvPr id="4" name="Chart 0" descr=""/>
          <p:cNvGraphicFramePr/>
          <p:nvPr/>
        </p:nvGraphicFramePr>
        <p:xfrm>
          <a:off x="457200" y="1115568"/>
          <a:ext cx="71323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115568"/>
            <a:ext cx="3840480" cy="1170432"/>
          </a:xfrm>
          <a:prstGeom prst="roundRect">
            <a:avLst>
              <a:gd name="adj" fmla="val 6250"/>
            </a:avLst>
          </a:prstGeom>
          <a:solidFill>
            <a:srgbClr val="111520"/>
          </a:solidFill>
          <a:ln w="6350">
            <a:solidFill>
              <a:srgbClr val="252D40"/>
            </a:solidFill>
            <a:prstDash val="solid"/>
          </a:ln>
        </p:spPr>
      </p:sp>
      <p:sp>
        <p:nvSpPr>
          <p:cNvPr id="6" name="Text 3"/>
          <p:cNvSpPr/>
          <p:nvPr/>
        </p:nvSpPr>
        <p:spPr>
          <a:xfrm>
            <a:off x="8028432" y="1207008"/>
            <a:ext cx="3474720" cy="256032"/>
          </a:xfrm>
          <a:prstGeom prst="rect">
            <a:avLst/>
          </a:prstGeom>
          <a:noFill/>
          <a:ln/>
        </p:spPr>
        <p:txBody>
          <a:bodyPr wrap="square" rtlCol="0" anchor="ctr"/>
          <a:lstStyle/>
          <a:p>
            <a:pPr indent="0" marL="0">
              <a:buNone/>
            </a:pPr>
            <a:r>
              <a:rPr lang="en-US" sz="1100" b="1" spc="100" kern="0" dirty="0">
                <a:solidFill>
                  <a:srgbClr val="3D8EF0"/>
                </a:solidFill>
                <a:latin typeface="Calibri" pitchFamily="34" charset="0"/>
                <a:ea typeface="Calibri" pitchFamily="34" charset="-122"/>
                <a:cs typeface="Calibri" pitchFamily="34" charset="-120"/>
              </a:rPr>
              <a:t>CEEW</a:t>
            </a:r>
            <a:endParaRPr lang="en-US" sz="1100" dirty="0"/>
          </a:p>
        </p:txBody>
      </p:sp>
      <p:sp>
        <p:nvSpPr>
          <p:cNvPr id="7" name="Text 4"/>
          <p:cNvSpPr/>
          <p:nvPr/>
        </p:nvSpPr>
        <p:spPr>
          <a:xfrm>
            <a:off x="8028432" y="1463040"/>
            <a:ext cx="1280160" cy="502920"/>
          </a:xfrm>
          <a:prstGeom prst="rect">
            <a:avLst/>
          </a:prstGeom>
          <a:noFill/>
          <a:ln/>
        </p:spPr>
        <p:txBody>
          <a:bodyPr wrap="square" rtlCol="0" anchor="ctr"/>
          <a:lstStyle/>
          <a:p>
            <a:pPr indent="0" marL="0">
              <a:buNone/>
            </a:pPr>
            <a:r>
              <a:rPr lang="en-US" sz="3400" b="1" dirty="0">
                <a:solidFill>
                  <a:srgbClr val="D8E4F0"/>
                </a:solidFill>
                <a:latin typeface="Calibri" pitchFamily="34" charset="0"/>
                <a:ea typeface="Calibri" pitchFamily="34" charset="-122"/>
                <a:cs typeface="Calibri" pitchFamily="34" charset="-120"/>
              </a:rPr>
              <a:t>1</a:t>
            </a:r>
            <a:endParaRPr lang="en-US" sz="3400" dirty="0"/>
          </a:p>
        </p:txBody>
      </p:sp>
      <p:sp>
        <p:nvSpPr>
          <p:cNvPr id="8" name="Text 5"/>
          <p:cNvSpPr/>
          <p:nvPr/>
        </p:nvSpPr>
        <p:spPr>
          <a:xfrm>
            <a:off x="8028432" y="1938528"/>
            <a:ext cx="1280160" cy="201168"/>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articles</a:t>
            </a:r>
            <a:endParaRPr lang="en-US" sz="1000" dirty="0"/>
          </a:p>
        </p:txBody>
      </p:sp>
      <p:sp>
        <p:nvSpPr>
          <p:cNvPr id="9" name="Text 6"/>
          <p:cNvSpPr/>
          <p:nvPr/>
        </p:nvSpPr>
        <p:spPr>
          <a:xfrm>
            <a:off x="9418320" y="1463040"/>
            <a:ext cx="2103120" cy="256032"/>
          </a:xfrm>
          <a:prstGeom prst="rect">
            <a:avLst/>
          </a:prstGeom>
          <a:noFill/>
          <a:ln/>
        </p:spPr>
        <p:txBody>
          <a:bodyPr wrap="square" rtlCol="0" anchor="ctr"/>
          <a:lstStyle/>
          <a:p>
            <a:pPr indent="0" marL="0">
              <a:buNone/>
            </a:pPr>
            <a:r>
              <a:rPr lang="en-US" sz="1200" b="1" dirty="0">
                <a:solidFill>
                  <a:srgbClr val="C9922A"/>
                </a:solidFill>
                <a:latin typeface="Calibri" pitchFamily="34" charset="0"/>
                <a:ea typeface="Calibri" pitchFamily="34" charset="-122"/>
                <a:cs typeface="Calibri" pitchFamily="34" charset="-120"/>
              </a:rPr>
              <a:t>100% share</a:t>
            </a:r>
            <a:endParaRPr lang="en-US" sz="1200" dirty="0"/>
          </a:p>
        </p:txBody>
      </p:sp>
      <p:sp>
        <p:nvSpPr>
          <p:cNvPr id="10" name="Text 7"/>
          <p:cNvSpPr/>
          <p:nvPr/>
        </p:nvSpPr>
        <p:spPr>
          <a:xfrm>
            <a:off x="9418320" y="1755648"/>
            <a:ext cx="2103120" cy="201168"/>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Top: Times of India</a:t>
            </a:r>
            <a:endParaRPr lang="en-US" sz="1000" dirty="0"/>
          </a:p>
        </p:txBody>
      </p:sp>
      <p:sp>
        <p:nvSpPr>
          <p:cNvPr id="11" name="Text 8"/>
          <p:cNvSpPr/>
          <p:nvPr/>
        </p:nvSpPr>
        <p:spPr>
          <a:xfrm>
            <a:off x="457200" y="6382512"/>
            <a:ext cx="7315200" cy="219456"/>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Serper News API · 2026-06-17 · AQ-scoped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04</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Coverage Momentum</a:t>
            </a:r>
            <a:endParaRPr lang="en-US" sz="2800" dirty="0"/>
          </a:p>
        </p:txBody>
      </p:sp>
      <p:graphicFrame>
        <p:nvGraphicFramePr>
          <p:cNvPr id="4" name="Chart 0" descr=""/>
          <p:cNvGraphicFramePr/>
          <p:nvPr/>
        </p:nvGraphicFramePr>
        <p:xfrm>
          <a:off x="457200" y="1115568"/>
          <a:ext cx="11247120" cy="45720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05</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Topic Ownership Map</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15568"/>
          <a:ext cx="11247120" cy="914400"/>
        </p:xfrm>
        <a:graphic>
          <a:graphicData uri="http://schemas.openxmlformats.org/drawingml/2006/table">
            <a:tbl>
              <a:tblPr/>
              <a:tblGrid>
                <a:gridCol w="2377440"/>
                <a:gridCol w="8778240"/>
              </a:tblGrid>
              <a:tr h="338328">
                <a:tc>
                  <a:txBody>
                    <a:bodyPr/>
                    <a:lstStyle/>
                    <a:p>
                      <a:pPr algn="l" indent="0" marL="0">
                        <a:buNone/>
                      </a:pPr>
                      <a:r>
                        <a:rPr lang="en-US" sz="900" b="1" dirty="0">
                          <a:solidFill>
                            <a:srgbClr val="8FA3B8"/>
                          </a:solidFill>
                          <a:latin typeface="Calibri" pitchFamily="34" charset="0"/>
                          <a:ea typeface="Calibri" pitchFamily="34" charset="-122"/>
                          <a:cs typeface="Calibri" pitchFamily="34" charset="-120"/>
                        </a:rPr>
                        <a:t>AQ SUB-TOPIC</a:t>
                      </a:r>
                      <a:endParaRPr lang="en-US" sz="9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81E2E"/>
                    </a:solidFill>
                  </a:tcPr>
                </a:tc>
                <a:tc>
                  <a:txBody>
                    <a:bodyPr/>
                    <a:lstStyle/>
                    <a:p>
                      <a:pPr algn="ctr" indent="0" marL="0">
                        <a:buNone/>
                      </a:pPr>
                      <a:r>
                        <a:rPr lang="en-US" sz="1000" b="1" dirty="0">
                          <a:solidFill>
                            <a:srgbClr val="3D8EF0"/>
                          </a:solidFill>
                          <a:latin typeface="Calibri" pitchFamily="34" charset="0"/>
                          <a:ea typeface="Calibri" pitchFamily="34" charset="-122"/>
                          <a:cs typeface="Calibri" pitchFamily="34" charset="-120"/>
                        </a:rPr>
                        <a:t>CEEW</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81E2E"/>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NCAP</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Policy</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PM2.5 Exposure</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Stubble Burning</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Clean Air Finance</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Vehicular Pollution</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Health Impact</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Industrial Pollution</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Heat-AQI</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Brick Kilns</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Petrol Emissions</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Diesel Emissions</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Super Emitters</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Thermal Power Plants</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Household Pollution</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Indoor Pollution</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Biomass Air Pollution</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Rice Residue Burning</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Wheat Residue Burning</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r h="338328">
                <a:tc>
                  <a:txBody>
                    <a:bodyPr/>
                    <a:lstStyle/>
                    <a:p>
                      <a:pPr indent="0" marL="0">
                        <a:buNone/>
                      </a:pPr>
                      <a:r>
                        <a:rPr lang="en-US" sz="1100" b="1" dirty="0">
                          <a:solidFill>
                            <a:srgbClr val="D8E4F0"/>
                          </a:solidFill>
                          <a:latin typeface="Calibri" pitchFamily="34" charset="0"/>
                          <a:ea typeface="Calibri" pitchFamily="34" charset="-122"/>
                          <a:cs typeface="Calibri" pitchFamily="34" charset="-120"/>
                        </a:rPr>
                        <a:t>Road Dust</a:t>
                      </a:r>
                      <a:endParaRPr lang="en-US" sz="11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111520"/>
                    </a:solidFill>
                  </a:tcPr>
                </a:tc>
                <a:tc>
                  <a:txBody>
                    <a:bodyPr/>
                    <a:lstStyle/>
                    <a:p>
                      <a:pPr algn="ctr" indent="0" marL="0">
                        <a:buNone/>
                      </a:pPr>
                      <a:r>
                        <a:rPr lang="en-US" sz="1000" dirty="0">
                          <a:solidFill>
                            <a:srgbClr val="8FA3B8"/>
                          </a:solidFill>
                          <a:latin typeface="Calibri" pitchFamily="34" charset="0"/>
                          <a:ea typeface="Calibri" pitchFamily="34" charset="-122"/>
                          <a:cs typeface="Calibri" pitchFamily="34" charset="-120"/>
                        </a:rPr>
                        <a:t>Absent · 0</a:t>
                      </a:r>
                      <a:endParaRPr lang="en-US" sz="1000" dirty="0">
                        <a:latin typeface="Calibri" charset="0"/>
                        <a:ea typeface="Calibri" charset="0"/>
                        <a:cs typeface="Calibri" charset="0"/>
                      </a:endParaRPr>
                    </a:p>
                  </a:txBody>
                  <a:tcPr marL="91440" marR="91440" marT="45720" marB="45720">
                    <a:lnL w="6350" cap="flat" cmpd="sng" algn="ctr">
                      <a:solidFill>
                        <a:srgbClr val="252D40"/>
                      </a:solidFill>
                      <a:prstDash val="solid"/>
                      <a:round/>
                      <a:headEnd type="none" w="med" len="med"/>
                      <a:tailEnd type="none" w="med" len="med"/>
                    </a:lnL>
                    <a:lnR w="6350" cap="flat" cmpd="sng" algn="ctr">
                      <a:solidFill>
                        <a:srgbClr val="252D40"/>
                      </a:solidFill>
                      <a:prstDash val="solid"/>
                      <a:round/>
                      <a:headEnd type="none" w="med" len="med"/>
                      <a:tailEnd type="none" w="med" len="med"/>
                    </a:lnR>
                    <a:lnT w="6350" cap="flat" cmpd="sng" algn="ctr">
                      <a:solidFill>
                        <a:srgbClr val="252D40"/>
                      </a:solidFill>
                      <a:prstDash val="solid"/>
                      <a:round/>
                      <a:headEnd type="none" w="med" len="med"/>
                      <a:tailEnd type="none" w="med" len="med"/>
                    </a:lnT>
                    <a:lnB w="6350" cap="flat" cmpd="sng" algn="ctr">
                      <a:solidFill>
                        <a:srgbClr val="252D40"/>
                      </a:solidFill>
                      <a:prstDash val="solid"/>
                      <a:round/>
                      <a:headEnd type="none" w="med" len="med"/>
                      <a:tailEnd type="none" w="med" len="med"/>
                    </a:lnB>
                    <a:solidFill>
                      <a:srgbClr val="252D40">
                        <a:alpha val="8000"/>
                      </a:srgbClr>
                    </a:solidFill>
                  </a:tcPr>
                </a:tc>
              </a:tr>
            </a:tbl>
          </a:graphicData>
        </a:graphic>
      </p:graphicFrame>
      <p:sp>
        <p:nvSpPr>
          <p:cNvPr id="5" name="Text 2"/>
          <p:cNvSpPr/>
          <p:nvPr/>
        </p:nvSpPr>
        <p:spPr>
          <a:xfrm>
            <a:off x="457200" y="6382512"/>
            <a:ext cx="11247120" cy="219456"/>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Owns = 5+ · Contests = 2–4 · Absent = 0–1 · Clustered by Claude Haiku</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SECTIONS 06 &amp; 07</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Narrative Position &amp; Citation Quality</a:t>
            </a:r>
            <a:endParaRPr lang="en-US" sz="2800" dirty="0"/>
          </a:p>
        </p:txBody>
      </p:sp>
      <p:sp>
        <p:nvSpPr>
          <p:cNvPr id="4" name="Shape 2"/>
          <p:cNvSpPr/>
          <p:nvPr/>
        </p:nvSpPr>
        <p:spPr>
          <a:xfrm>
            <a:off x="457200" y="1170432"/>
            <a:ext cx="3383280" cy="2450592"/>
          </a:xfrm>
          <a:prstGeom prst="roundRect">
            <a:avLst>
              <a:gd name="adj" fmla="val 2985"/>
            </a:avLst>
          </a:prstGeom>
          <a:solidFill>
            <a:srgbClr val="111520"/>
          </a:solidFill>
          <a:ln w="6350">
            <a:solidFill>
              <a:srgbClr val="252D40"/>
            </a:solidFill>
            <a:prstDash val="solid"/>
          </a:ln>
        </p:spPr>
      </p:sp>
      <p:sp>
        <p:nvSpPr>
          <p:cNvPr id="5" name="Text 3"/>
          <p:cNvSpPr/>
          <p:nvPr/>
        </p:nvSpPr>
        <p:spPr>
          <a:xfrm>
            <a:off x="594360" y="1261872"/>
            <a:ext cx="3108960" cy="256032"/>
          </a:xfrm>
          <a:prstGeom prst="rect">
            <a:avLst/>
          </a:prstGeom>
          <a:noFill/>
          <a:ln/>
        </p:spPr>
        <p:txBody>
          <a:bodyPr wrap="square" rtlCol="0" anchor="ctr"/>
          <a:lstStyle/>
          <a:p>
            <a:pPr indent="0" marL="0">
              <a:buNone/>
            </a:pPr>
            <a:r>
              <a:rPr lang="en-US" sz="1100" b="1" spc="100" kern="0" dirty="0">
                <a:solidFill>
                  <a:srgbClr val="3D8EF0"/>
                </a:solidFill>
                <a:latin typeface="Calibri" pitchFamily="34" charset="0"/>
                <a:ea typeface="Calibri" pitchFamily="34" charset="-122"/>
                <a:cs typeface="Calibri" pitchFamily="34" charset="-120"/>
              </a:rPr>
              <a:t>CEEW</a:t>
            </a:r>
            <a:endParaRPr lang="en-US" sz="1100" dirty="0"/>
          </a:p>
        </p:txBody>
      </p:sp>
      <p:sp>
        <p:nvSpPr>
          <p:cNvPr id="6" name="Text 4"/>
          <p:cNvSpPr/>
          <p:nvPr/>
        </p:nvSpPr>
        <p:spPr>
          <a:xfrm>
            <a:off x="594360" y="1554480"/>
            <a:ext cx="1623974" cy="621792"/>
          </a:xfrm>
          <a:prstGeom prst="rect">
            <a:avLst/>
          </a:prstGeom>
          <a:noFill/>
          <a:ln/>
        </p:spPr>
        <p:txBody>
          <a:bodyPr wrap="square" rtlCol="0" anchor="ctr"/>
          <a:lstStyle/>
          <a:p>
            <a:pPr indent="0" marL="0">
              <a:buNone/>
            </a:pPr>
            <a:r>
              <a:rPr lang="en-US" sz="3400" b="1" dirty="0">
                <a:solidFill>
                  <a:srgbClr val="3D8EF0"/>
                </a:solidFill>
                <a:latin typeface="Calibri" pitchFamily="34" charset="0"/>
                <a:ea typeface="Calibri" pitchFamily="34" charset="-122"/>
                <a:cs typeface="Calibri" pitchFamily="34" charset="-120"/>
              </a:rPr>
              <a:t>0%</a:t>
            </a:r>
            <a:endParaRPr lang="en-US" sz="3400" dirty="0"/>
          </a:p>
        </p:txBody>
      </p:sp>
      <p:sp>
        <p:nvSpPr>
          <p:cNvPr id="7" name="Text 5"/>
          <p:cNvSpPr/>
          <p:nvPr/>
        </p:nvSpPr>
        <p:spPr>
          <a:xfrm>
            <a:off x="594360" y="2157984"/>
            <a:ext cx="1623974" cy="219456"/>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Primary Source</a:t>
            </a:r>
            <a:endParaRPr lang="en-US" sz="1000" dirty="0"/>
          </a:p>
        </p:txBody>
      </p:sp>
      <p:sp>
        <p:nvSpPr>
          <p:cNvPr id="8" name="Shape 6"/>
          <p:cNvSpPr/>
          <p:nvPr/>
        </p:nvSpPr>
        <p:spPr>
          <a:xfrm>
            <a:off x="2221992" y="1554480"/>
            <a:ext cx="0" cy="822960"/>
          </a:xfrm>
          <a:prstGeom prst="line">
            <a:avLst/>
          </a:prstGeom>
          <a:noFill/>
          <a:ln w="6350">
            <a:solidFill>
              <a:srgbClr val="252D40"/>
            </a:solidFill>
            <a:prstDash val="solid"/>
          </a:ln>
        </p:spPr>
      </p:sp>
      <p:sp>
        <p:nvSpPr>
          <p:cNvPr id="9" name="Text 7"/>
          <p:cNvSpPr/>
          <p:nvPr/>
        </p:nvSpPr>
        <p:spPr>
          <a:xfrm>
            <a:off x="2313432" y="1554480"/>
            <a:ext cx="1623974" cy="621792"/>
          </a:xfrm>
          <a:prstGeom prst="rect">
            <a:avLst/>
          </a:prstGeom>
          <a:noFill/>
          <a:ln/>
        </p:spPr>
        <p:txBody>
          <a:bodyPr wrap="square" rtlCol="0" anchor="ctr"/>
          <a:lstStyle/>
          <a:p>
            <a:pPr indent="0" marL="0">
              <a:buNone/>
            </a:pPr>
            <a:r>
              <a:rPr lang="en-US" sz="3400" b="1" dirty="0">
                <a:solidFill>
                  <a:srgbClr val="C9922A"/>
                </a:solidFill>
                <a:latin typeface="Calibri" pitchFamily="34" charset="0"/>
                <a:ea typeface="Calibri" pitchFamily="34" charset="-122"/>
                <a:cs typeface="Calibri" pitchFamily="34" charset="-120"/>
              </a:rPr>
              <a:t>0%</a:t>
            </a:r>
            <a:endParaRPr lang="en-US" sz="3400" dirty="0"/>
          </a:p>
        </p:txBody>
      </p:sp>
      <p:sp>
        <p:nvSpPr>
          <p:cNvPr id="10" name="Text 8"/>
          <p:cNvSpPr/>
          <p:nvPr/>
        </p:nvSpPr>
        <p:spPr>
          <a:xfrm>
            <a:off x="2313432" y="2157984"/>
            <a:ext cx="1623974" cy="219456"/>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Data Cited</a:t>
            </a:r>
            <a:endParaRPr lang="en-US" sz="1000" dirty="0"/>
          </a:p>
        </p:txBody>
      </p:sp>
      <p:graphicFrame>
        <p:nvGraphicFramePr>
          <p:cNvPr id="11" name="Chart 0" descr=""/>
          <p:cNvGraphicFramePr/>
          <p:nvPr/>
        </p:nvGraphicFramePr>
        <p:xfrm>
          <a:off x="457200" y="3840480"/>
          <a:ext cx="11247120" cy="246888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AEO — LLM VISIBILITY</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AI Engine Optimisation</a:t>
            </a:r>
            <a:endParaRPr lang="en-US" sz="2800" dirty="0"/>
          </a:p>
        </p:txBody>
      </p:sp>
      <p:sp>
        <p:nvSpPr>
          <p:cNvPr id="4" name="Text 2"/>
          <p:cNvSpPr/>
          <p:nvPr/>
        </p:nvSpPr>
        <p:spPr>
          <a:xfrm>
            <a:off x="457200" y="1024128"/>
            <a:ext cx="11247120" cy="292608"/>
          </a:xfrm>
          <a:prstGeom prst="rect">
            <a:avLst/>
          </a:prstGeom>
          <a:noFill/>
          <a:ln/>
        </p:spPr>
        <p:txBody>
          <a:bodyPr wrap="square" rtlCol="0" anchor="ctr"/>
          <a:lstStyle/>
          <a:p>
            <a:pPr indent="0" marL="0">
              <a:buNone/>
            </a:pPr>
            <a:r>
              <a:rPr lang="en-US" sz="1200" dirty="0">
                <a:solidFill>
                  <a:srgbClr val="8FA3B8"/>
                </a:solidFill>
                <a:latin typeface="Calibri" pitchFamily="34" charset="0"/>
                <a:ea typeface="Calibri" pitchFamily="34" charset="-122"/>
                <a:cs typeface="Calibri" pitchFamily="34" charset="-120"/>
              </a:rPr>
              <a:t>How often is each organisation cited when AI models answer AQ questions? Based on 5 standard queries per LLM.</a:t>
            </a:r>
            <a:endParaRPr lang="en-US" sz="1200" dirty="0"/>
          </a:p>
        </p:txBody>
      </p:sp>
      <p:graphicFrame>
        <p:nvGraphicFramePr>
          <p:cNvPr id="5" name="Chart 0" descr=""/>
          <p:cNvGraphicFramePr/>
          <p:nvPr/>
        </p:nvGraphicFramePr>
        <p:xfrm>
          <a:off x="457200" y="1417320"/>
          <a:ext cx="548640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217920" y="1417320"/>
            <a:ext cx="5303520" cy="1325880"/>
          </a:xfrm>
          <a:prstGeom prst="roundRect">
            <a:avLst>
              <a:gd name="adj" fmla="val 5517"/>
            </a:avLst>
          </a:prstGeom>
          <a:solidFill>
            <a:srgbClr val="111520"/>
          </a:solidFill>
          <a:ln w="6350">
            <a:solidFill>
              <a:srgbClr val="252D40"/>
            </a:solidFill>
            <a:prstDash val="solid"/>
          </a:ln>
        </p:spPr>
      </p:sp>
      <p:sp>
        <p:nvSpPr>
          <p:cNvPr id="7" name="Text 4"/>
          <p:cNvSpPr/>
          <p:nvPr/>
        </p:nvSpPr>
        <p:spPr>
          <a:xfrm>
            <a:off x="6355080" y="1508760"/>
            <a:ext cx="5029200" cy="256032"/>
          </a:xfrm>
          <a:prstGeom prst="rect">
            <a:avLst/>
          </a:prstGeom>
          <a:noFill/>
          <a:ln/>
        </p:spPr>
        <p:txBody>
          <a:bodyPr wrap="square" rtlCol="0" anchor="ctr"/>
          <a:lstStyle/>
          <a:p>
            <a:pPr indent="0" marL="0">
              <a:buNone/>
            </a:pPr>
            <a:r>
              <a:rPr lang="en-US" sz="1100" b="1" dirty="0">
                <a:solidFill>
                  <a:srgbClr val="3D8EF0"/>
                </a:solidFill>
                <a:latin typeface="Calibri" pitchFamily="34" charset="0"/>
                <a:ea typeface="Calibri" pitchFamily="34" charset="-122"/>
                <a:cs typeface="Calibri" pitchFamily="34" charset="-120"/>
              </a:rPr>
              <a:t>CEEW</a:t>
            </a:r>
            <a:endParaRPr lang="en-US" sz="1100" dirty="0"/>
          </a:p>
        </p:txBody>
      </p:sp>
      <p:sp>
        <p:nvSpPr>
          <p:cNvPr id="8" name="Text 5"/>
          <p:cNvSpPr/>
          <p:nvPr/>
        </p:nvSpPr>
        <p:spPr>
          <a:xfrm>
            <a:off x="6355080" y="1801368"/>
            <a:ext cx="5029200" cy="219456"/>
          </a:xfrm>
          <a:prstGeom prst="rect">
            <a:avLst/>
          </a:prstGeom>
          <a:noFill/>
          <a:ln/>
        </p:spPr>
        <p:txBody>
          <a:bodyPr wrap="square" rtlCol="0" anchor="ctr"/>
          <a:lstStyle/>
          <a:p>
            <a:pPr indent="0" marL="0">
              <a:buNone/>
            </a:pPr>
            <a:r>
              <a:rPr lang="en-US" sz="1000" dirty="0">
                <a:solidFill>
                  <a:srgbClr val="D8E4F0"/>
                </a:solidFill>
                <a:latin typeface="Calibri" pitchFamily="34" charset="0"/>
                <a:ea typeface="Calibri" pitchFamily="34" charset="-122"/>
                <a:cs typeface="Calibri" pitchFamily="34" charset="-120"/>
              </a:rPr>
              <a:t>Overall AEO: 18/100 · 2 total mentions</a:t>
            </a:r>
            <a:endParaRPr lang="en-US" sz="1000" dirty="0"/>
          </a:p>
        </p:txBody>
      </p:sp>
      <p:sp>
        <p:nvSpPr>
          <p:cNvPr id="9" name="Text 6"/>
          <p:cNvSpPr/>
          <p:nvPr/>
        </p:nvSpPr>
        <p:spPr>
          <a:xfrm>
            <a:off x="6355080" y="2057400"/>
            <a:ext cx="5029200" cy="219456"/>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Gemini 1.5 Flash: 0/10  ·  Perplexity: 1/10  ·  GPT-4o mini: 1/10</a:t>
            </a:r>
            <a:endParaRPr lang="en-US" sz="900" dirty="0"/>
          </a:p>
        </p:txBody>
      </p:sp>
      <p:sp>
        <p:nvSpPr>
          <p:cNvPr id="10" name="Text 7"/>
          <p:cNvSpPr/>
          <p:nvPr/>
        </p:nvSpPr>
        <p:spPr>
          <a:xfrm>
            <a:off x="6355080" y="2331720"/>
            <a:ext cx="5029200" cy="320040"/>
          </a:xfrm>
          <a:prstGeom prst="rect">
            <a:avLst/>
          </a:prstGeom>
          <a:noFill/>
          <a:ln/>
        </p:spPr>
        <p:txBody>
          <a:bodyPr wrap="square" rtlCol="0" anchor="ctr"/>
          <a:lstStyle/>
          <a:p>
            <a:pPr indent="0" marL="0">
              <a:buNone/>
            </a:pPr>
            <a:r>
              <a:rPr lang="en-US" sz="800" i="1" dirty="0">
                <a:solidFill>
                  <a:srgbClr val="8FA3B8"/>
                </a:solidFill>
                <a:latin typeface="Calibri" pitchFamily="34" charset="0"/>
                <a:ea typeface="Calibri" pitchFamily="34" charset="-122"/>
                <a:cs typeface="Calibri" pitchFamily="34" charset="-120"/>
              </a:rPr>
              <a:t>"Several **Indian** and India-focused institutions stand out as leading thinkers and implementers on clean air policy, es..."</a:t>
            </a:r>
            <a:endParaRPr lang="en-US" sz="800" dirty="0"/>
          </a:p>
        </p:txBody>
      </p:sp>
      <p:sp>
        <p:nvSpPr>
          <p:cNvPr id="11" name="Text 8"/>
          <p:cNvSpPr/>
          <p:nvPr/>
        </p:nvSpPr>
        <p:spPr>
          <a:xfrm>
            <a:off x="457200" y="6382512"/>
            <a:ext cx="11247120" cy="219456"/>
          </a:xfrm>
          <a:prstGeom prst="rect">
            <a:avLst/>
          </a:prstGeom>
          <a:noFill/>
          <a:ln/>
        </p:spPr>
        <p:txBody>
          <a:bodyPr wrap="square" rtlCol="0" anchor="ctr"/>
          <a:lstStyle/>
          <a:p>
            <a:pPr indent="0" marL="0">
              <a:buNone/>
            </a:pPr>
            <a:r>
              <a:rPr lang="en-US" sz="800" i="1" dirty="0">
                <a:solidFill>
                  <a:srgbClr val="8FA3B8"/>
                </a:solidFill>
                <a:latin typeface="Calibri" pitchFamily="34" charset="0"/>
                <a:ea typeface="Calibri" pitchFamily="34" charset="-122"/>
                <a:cs typeface="Calibri" pitchFamily="34" charset="-120"/>
              </a:rPr>
              <a:t>AEO questions: "Which organisations are the most authoritative on Indian air quality?" and 4 similar. Score = (mentions/questions) × 100.</a:t>
            </a:r>
            <a:endParaRPr lang="en-US" sz="800" dirty="0"/>
          </a:p>
        </p:txBody>
      </p:sp>
      <p:sp>
        <p:nvSpPr>
          <p:cNvPr id="12" name="Text 9"/>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SOCIAL MEDIA INTELLIGENCE</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Platform Presence Scorecard</a:t>
            </a:r>
            <a:endParaRPr lang="en-US" sz="2800" dirty="0"/>
          </a:p>
        </p:txBody>
      </p:sp>
      <p:sp>
        <p:nvSpPr>
          <p:cNvPr id="4" name="Text 2"/>
          <p:cNvSpPr/>
          <p:nvPr/>
        </p:nvSpPr>
        <p:spPr>
          <a:xfrm>
            <a:off x="457200" y="1024128"/>
            <a:ext cx="11247120" cy="292608"/>
          </a:xfrm>
          <a:prstGeom prst="rect">
            <a:avLst/>
          </a:prstGeom>
          <a:noFill/>
          <a:ln/>
        </p:spPr>
        <p:txBody>
          <a:bodyPr wrap="square"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Org mentions in top AQ content across YouTube · X/Twitter · Instagram · LinkedIn — Serper Search + YouTube Data API.</a:t>
            </a:r>
            <a:endParaRPr lang="en-US" sz="1200" dirty="0"/>
          </a:p>
        </p:txBody>
      </p:sp>
      <p:sp>
        <p:nvSpPr>
          <p:cNvPr id="5" name="Shape 3"/>
          <p:cNvSpPr/>
          <p:nvPr/>
        </p:nvSpPr>
        <p:spPr>
          <a:xfrm>
            <a:off x="457200" y="1417320"/>
            <a:ext cx="11247120" cy="1828800"/>
          </a:xfrm>
          <a:prstGeom prst="roundRect">
            <a:avLst>
              <a:gd name="adj" fmla="val 4000"/>
            </a:avLst>
          </a:prstGeom>
          <a:solidFill>
            <a:srgbClr val="111520"/>
          </a:solidFill>
          <a:ln w="6350">
            <a:solidFill>
              <a:srgbClr val="252D40"/>
            </a:solidFill>
            <a:prstDash val="solid"/>
          </a:ln>
        </p:spPr>
      </p:sp>
      <p:sp>
        <p:nvSpPr>
          <p:cNvPr id="6" name="Text 4"/>
          <p:cNvSpPr/>
          <p:nvPr/>
        </p:nvSpPr>
        <p:spPr>
          <a:xfrm>
            <a:off x="457200" y="2103120"/>
            <a:ext cx="11247120" cy="365760"/>
          </a:xfrm>
          <a:prstGeom prst="rect">
            <a:avLst/>
          </a:prstGeom>
          <a:noFill/>
          <a:ln/>
        </p:spPr>
        <p:txBody>
          <a:bodyPr wrap="square" rtlCol="0" anchor="ctr"/>
          <a:lstStyle/>
          <a:p>
            <a:pPr algn="ctr" indent="0" marL="0">
              <a:buNone/>
            </a:pPr>
            <a:r>
              <a:rPr lang="en-US" sz="1600" dirty="0">
                <a:solidFill>
                  <a:srgbClr val="8FA3B8"/>
                </a:solidFill>
                <a:latin typeface="Calibri" pitchFamily="34" charset="0"/>
                <a:ea typeface="Calibri" pitchFamily="34" charset="-122"/>
                <a:cs typeface="Calibri" pitchFamily="34" charset="-120"/>
              </a:rPr>
              <a:t>Social media data not collected this run.</a:t>
            </a:r>
            <a:endParaRPr lang="en-US" sz="1600" dirty="0"/>
          </a:p>
        </p:txBody>
      </p:sp>
      <p:sp>
        <p:nvSpPr>
          <p:cNvPr id="7" name="Text 5"/>
          <p:cNvSpPr/>
          <p:nvPr/>
        </p:nvSpPr>
        <p:spPr>
          <a:xfrm>
            <a:off x="457200" y="2523744"/>
            <a:ext cx="11247120" cy="365760"/>
          </a:xfrm>
          <a:prstGeom prst="rect">
            <a:avLst/>
          </a:prstGeom>
          <a:noFill/>
          <a:ln/>
        </p:spPr>
        <p:txBody>
          <a:bodyPr wrap="square" rtlCol="0" anchor="ctr"/>
          <a:lstStyle/>
          <a:p>
            <a:pPr algn="ctr" indent="0" marL="0">
              <a:buNone/>
            </a:pPr>
            <a:r>
              <a:rPr lang="en-US" sz="1200" dirty="0">
                <a:solidFill>
                  <a:srgbClr val="D4A017"/>
                </a:solidFill>
                <a:latin typeface="Calibri" pitchFamily="34" charset="0"/>
                <a:ea typeface="Calibri" pitchFamily="34" charset="-122"/>
                <a:cs typeface="Calibri" pitchFamily="34" charset="-120"/>
              </a:rPr>
              <a:t>Add social media API keys and/or Serper key to enable.</a:t>
            </a:r>
            <a:endParaRPr lang="en-US" sz="1200" dirty="0"/>
          </a:p>
        </p:txBody>
      </p:sp>
      <p:sp>
        <p:nvSpPr>
          <p:cNvPr id="8" name="Text 6"/>
          <p:cNvSpPr/>
          <p:nvPr/>
        </p:nvSpPr>
        <p:spPr>
          <a:xfrm>
            <a:off x="457200" y="6382512"/>
            <a:ext cx="11247120" cy="219456"/>
          </a:xfrm>
          <a:prstGeom prst="rect">
            <a:avLst/>
          </a:prstGeom>
          <a:noFill/>
          <a:ln/>
        </p:spPr>
        <p:txBody>
          <a:bodyPr wrap="square" rtlCol="0" anchor="ctr"/>
          <a:lstStyle/>
          <a:p>
            <a:pPr indent="0" marL="0">
              <a:buNone/>
            </a:pPr>
            <a:r>
              <a:rPr lang="en-US" sz="800" i="1" dirty="0">
                <a:solidFill>
                  <a:srgbClr val="8FA3B8"/>
                </a:solidFill>
                <a:latin typeface="Calibri" pitchFamily="34" charset="0"/>
                <a:ea typeface="Calibri" pitchFamily="34" charset="-122"/>
                <a:cs typeface="Calibri" pitchFamily="34" charset="-120"/>
              </a:rPr>
              <a:t>YouTube: Data API v3 broad AQ search · X/Twitter/Instagram/LinkedIn: Serper site: search · mention detection across title, description, comments</a:t>
            </a:r>
            <a:endParaRPr lang="en-US" sz="800" dirty="0"/>
          </a:p>
        </p:txBody>
      </p:sp>
      <p:sp>
        <p:nvSpPr>
          <p:cNvPr id="9" name="Text 7"/>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08</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Emerging Narratives</a:t>
            </a:r>
            <a:endParaRPr lang="en-US" sz="2800" dirty="0"/>
          </a:p>
        </p:txBody>
      </p:sp>
      <p:sp>
        <p:nvSpPr>
          <p:cNvPr id="4" name="Shape 2"/>
          <p:cNvSpPr/>
          <p:nvPr/>
        </p:nvSpPr>
        <p:spPr>
          <a:xfrm>
            <a:off x="457200" y="1170432"/>
            <a:ext cx="11247120" cy="2212848"/>
          </a:xfrm>
          <a:prstGeom prst="roundRect">
            <a:avLst>
              <a:gd name="adj" fmla="val 3306"/>
            </a:avLst>
          </a:prstGeom>
          <a:solidFill>
            <a:srgbClr val="111520"/>
          </a:solidFill>
          <a:ln w="6350">
            <a:solidFill>
              <a:srgbClr val="252D40"/>
            </a:solidFill>
            <a:prstDash val="solid"/>
          </a:ln>
        </p:spPr>
      </p:sp>
      <p:sp>
        <p:nvSpPr>
          <p:cNvPr id="5" name="Shape 3"/>
          <p:cNvSpPr/>
          <p:nvPr/>
        </p:nvSpPr>
        <p:spPr>
          <a:xfrm>
            <a:off x="457200" y="1170432"/>
            <a:ext cx="502920" cy="2212848"/>
          </a:xfrm>
          <a:prstGeom prst="roundRect">
            <a:avLst>
              <a:gd name="adj" fmla="val 7273"/>
            </a:avLst>
          </a:prstGeom>
          <a:solidFill>
            <a:srgbClr val="4CAF74">
              <a:alpha val="22000"/>
            </a:srgbClr>
          </a:solidFill>
          <a:ln w="6350">
            <a:solidFill>
              <a:srgbClr val="4CAF74"/>
            </a:solidFill>
            <a:prstDash val="solid"/>
          </a:ln>
        </p:spPr>
      </p:sp>
      <p:sp>
        <p:nvSpPr>
          <p:cNvPr id="6" name="Text 4"/>
          <p:cNvSpPr/>
          <p:nvPr/>
        </p:nvSpPr>
        <p:spPr>
          <a:xfrm>
            <a:off x="1078992" y="1261872"/>
            <a:ext cx="7498080" cy="347472"/>
          </a:xfrm>
          <a:prstGeom prst="rect">
            <a:avLst/>
          </a:prstGeom>
          <a:noFill/>
          <a:ln/>
        </p:spPr>
        <p:txBody>
          <a:bodyPr wrap="square" rtlCol="0" anchor="ctr"/>
          <a:lstStyle/>
          <a:p>
            <a:pPr indent="0" marL="0">
              <a:buNone/>
            </a:pPr>
            <a:r>
              <a:rPr lang="en-US" sz="1400" b="1" dirty="0">
                <a:solidFill>
                  <a:srgbClr val="D8E4F0"/>
                </a:solidFill>
                <a:latin typeface="Calibri" pitchFamily="34" charset="0"/>
                <a:ea typeface="Calibri" pitchFamily="34" charset="-122"/>
                <a:cs typeface="Calibri" pitchFamily="34" charset="-120"/>
              </a:rPr>
              <a:t>Insufficient data</a:t>
            </a:r>
            <a:endParaRPr lang="en-US" sz="1400" dirty="0"/>
          </a:p>
        </p:txBody>
      </p:sp>
      <p:sp>
        <p:nvSpPr>
          <p:cNvPr id="7" name="Text 5"/>
          <p:cNvSpPr/>
          <p:nvPr/>
        </p:nvSpPr>
        <p:spPr>
          <a:xfrm>
            <a:off x="1078992" y="1673352"/>
            <a:ext cx="10058400" cy="310896"/>
          </a:xfrm>
          <a:prstGeom prst="rect">
            <a:avLst/>
          </a:prstGeom>
          <a:noFill/>
          <a:ln/>
        </p:spPr>
        <p:txBody>
          <a:bodyPr wrap="square" rtlCol="0" anchor="ctr"/>
          <a:lstStyle/>
          <a:p>
            <a:pPr indent="0" marL="0">
              <a:buNone/>
            </a:pPr>
            <a:r>
              <a:rPr lang="en-US" sz="1100" dirty="0">
                <a:solidFill>
                  <a:srgbClr val="8FA3B8"/>
                </a:solidFill>
                <a:latin typeface="Calibri" pitchFamily="34" charset="0"/>
                <a:ea typeface="Calibri" pitchFamily="34" charset="-122"/>
                <a:cs typeface="Calibri" pitchFamily="34" charset="-120"/>
              </a:rPr>
              <a:t>Broaden the date range.</a:t>
            </a:r>
            <a:endParaRPr lang="en-US" sz="1100" dirty="0"/>
          </a:p>
        </p:txBody>
      </p:sp>
      <p:sp>
        <p:nvSpPr>
          <p:cNvPr id="8" name="Text 6"/>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09</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Competitive Scorecard</a:t>
            </a:r>
            <a:endParaRPr lang="en-US" sz="2800" dirty="0"/>
          </a:p>
        </p:txBody>
      </p:sp>
      <p:sp>
        <p:nvSpPr>
          <p:cNvPr id="4" name="Shape 2"/>
          <p:cNvSpPr/>
          <p:nvPr/>
        </p:nvSpPr>
        <p:spPr>
          <a:xfrm>
            <a:off x="457200" y="1170432"/>
            <a:ext cx="3383280" cy="4572000"/>
          </a:xfrm>
          <a:prstGeom prst="roundRect">
            <a:avLst>
              <a:gd name="adj" fmla="val 2703"/>
            </a:avLst>
          </a:prstGeom>
          <a:solidFill>
            <a:srgbClr val="111520"/>
          </a:solidFill>
          <a:ln w="19050">
            <a:solidFill>
              <a:srgbClr val="3D8EF0"/>
            </a:solidFill>
            <a:prstDash val="solid"/>
          </a:ln>
        </p:spPr>
      </p:sp>
      <p:sp>
        <p:nvSpPr>
          <p:cNvPr id="5" name="Text 3"/>
          <p:cNvSpPr/>
          <p:nvPr/>
        </p:nvSpPr>
        <p:spPr>
          <a:xfrm>
            <a:off x="457200" y="1261872"/>
            <a:ext cx="3383280" cy="256032"/>
          </a:xfrm>
          <a:prstGeom prst="rect">
            <a:avLst/>
          </a:prstGeom>
          <a:noFill/>
          <a:ln/>
        </p:spPr>
        <p:txBody>
          <a:bodyPr wrap="square" rtlCol="0" anchor="ctr"/>
          <a:lstStyle/>
          <a:p>
            <a:pPr algn="ctr" indent="0" marL="0">
              <a:buNone/>
            </a:pPr>
            <a:r>
              <a:rPr lang="en-US" sz="1100" b="1" spc="100" kern="0" dirty="0">
                <a:solidFill>
                  <a:srgbClr val="3D8EF0"/>
                </a:solidFill>
                <a:latin typeface="Calibri" pitchFamily="34" charset="0"/>
                <a:ea typeface="Calibri" pitchFamily="34" charset="-122"/>
                <a:cs typeface="Calibri" pitchFamily="34" charset="-120"/>
              </a:rPr>
              <a:t>CEEW</a:t>
            </a:r>
            <a:endParaRPr lang="en-US" sz="1100" dirty="0"/>
          </a:p>
        </p:txBody>
      </p:sp>
      <p:sp>
        <p:nvSpPr>
          <p:cNvPr id="6" name="Text 4"/>
          <p:cNvSpPr/>
          <p:nvPr/>
        </p:nvSpPr>
        <p:spPr>
          <a:xfrm>
            <a:off x="457200" y="1536192"/>
            <a:ext cx="3383280" cy="960120"/>
          </a:xfrm>
          <a:prstGeom prst="rect">
            <a:avLst/>
          </a:prstGeom>
          <a:noFill/>
          <a:ln/>
        </p:spPr>
        <p:txBody>
          <a:bodyPr wrap="square" rtlCol="0" anchor="ctr"/>
          <a:lstStyle/>
          <a:p>
            <a:pPr algn="ctr" indent="0" marL="0">
              <a:buNone/>
            </a:pPr>
            <a:r>
              <a:rPr lang="en-US" sz="6000" b="1" dirty="0">
                <a:solidFill>
                  <a:srgbClr val="E05C5C"/>
                </a:solidFill>
                <a:latin typeface="Cambria" pitchFamily="34" charset="0"/>
                <a:ea typeface="Cambria" pitchFamily="34" charset="-122"/>
                <a:cs typeface="Cambria" pitchFamily="34" charset="-120"/>
              </a:rPr>
              <a:t>F</a:t>
            </a:r>
            <a:endParaRPr lang="en-US" sz="6000" dirty="0"/>
          </a:p>
        </p:txBody>
      </p:sp>
      <p:sp>
        <p:nvSpPr>
          <p:cNvPr id="7" name="Text 5"/>
          <p:cNvSpPr/>
          <p:nvPr/>
        </p:nvSpPr>
        <p:spPr>
          <a:xfrm>
            <a:off x="457200" y="2487168"/>
            <a:ext cx="3383280" cy="274320"/>
          </a:xfrm>
          <a:prstGeom prst="rect">
            <a:avLst/>
          </a:prstGeom>
          <a:noFill/>
          <a:ln/>
        </p:spPr>
        <p:txBody>
          <a:bodyPr wrap="square" rtlCol="0" anchor="ctr"/>
          <a:lstStyle/>
          <a:p>
            <a:pPr algn="ctr" indent="0" marL="0">
              <a:buNone/>
            </a:pPr>
            <a:r>
              <a:rPr lang="en-US" sz="1300" dirty="0">
                <a:solidFill>
                  <a:srgbClr val="8FA3B8"/>
                </a:solidFill>
                <a:latin typeface="Calibri" pitchFamily="34" charset="0"/>
                <a:ea typeface="Calibri" pitchFamily="34" charset="-122"/>
                <a:cs typeface="Calibri" pitchFamily="34" charset="-120"/>
              </a:rPr>
              <a:t>6 / 100</a:t>
            </a:r>
            <a:endParaRPr lang="en-US" sz="1300" dirty="0"/>
          </a:p>
        </p:txBody>
      </p:sp>
      <p:sp>
        <p:nvSpPr>
          <p:cNvPr id="8" name="Text 6"/>
          <p:cNvSpPr/>
          <p:nvPr/>
        </p:nvSpPr>
        <p:spPr>
          <a:xfrm>
            <a:off x="594360" y="2871216"/>
            <a:ext cx="1759306" cy="201168"/>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Share of Voice</a:t>
            </a:r>
            <a:endParaRPr lang="en-US" sz="1000" dirty="0"/>
          </a:p>
        </p:txBody>
      </p:sp>
      <p:sp>
        <p:nvSpPr>
          <p:cNvPr id="9" name="Shape 7"/>
          <p:cNvSpPr/>
          <p:nvPr/>
        </p:nvSpPr>
        <p:spPr>
          <a:xfrm>
            <a:off x="594360" y="3090672"/>
            <a:ext cx="3108960" cy="91440"/>
          </a:xfrm>
          <a:prstGeom prst="rect">
            <a:avLst/>
          </a:prstGeom>
          <a:solidFill>
            <a:srgbClr val="181E2E"/>
          </a:solidFill>
          <a:ln w="12700">
            <a:solidFill>
              <a:srgbClr val="252D40"/>
            </a:solidFill>
            <a:prstDash val="solid"/>
          </a:ln>
        </p:spPr>
      </p:sp>
      <p:sp>
        <p:nvSpPr>
          <p:cNvPr id="10" name="Shape 8"/>
          <p:cNvSpPr/>
          <p:nvPr/>
        </p:nvSpPr>
        <p:spPr>
          <a:xfrm>
            <a:off x="594360" y="3090672"/>
            <a:ext cx="93269" cy="91440"/>
          </a:xfrm>
          <a:prstGeom prst="rect">
            <a:avLst/>
          </a:prstGeom>
          <a:solidFill>
            <a:srgbClr val="3D8EF0"/>
          </a:solidFill>
          <a:ln w="12700">
            <a:solidFill>
              <a:srgbClr val="3D8EF0"/>
            </a:solidFill>
            <a:prstDash val="solid"/>
          </a:ln>
        </p:spPr>
      </p:sp>
      <p:sp>
        <p:nvSpPr>
          <p:cNvPr id="11" name="Text 9"/>
          <p:cNvSpPr/>
          <p:nvPr/>
        </p:nvSpPr>
        <p:spPr>
          <a:xfrm>
            <a:off x="3337560" y="2871216"/>
            <a:ext cx="365760" cy="201168"/>
          </a:xfrm>
          <a:prstGeom prst="rect">
            <a:avLst/>
          </a:prstGeom>
          <a:noFill/>
          <a:ln/>
        </p:spPr>
        <p:txBody>
          <a:bodyPr wrap="square" rtlCol="0" anchor="ctr"/>
          <a:lstStyle/>
          <a:p>
            <a:pPr algn="r" indent="0" marL="0">
              <a:buNone/>
            </a:pPr>
            <a:r>
              <a:rPr lang="en-US" sz="1000" b="1" dirty="0">
                <a:solidFill>
                  <a:srgbClr val="3D8EF0"/>
                </a:solidFill>
                <a:latin typeface="Calibri" pitchFamily="34" charset="0"/>
                <a:ea typeface="Calibri" pitchFamily="34" charset="-122"/>
                <a:cs typeface="Calibri" pitchFamily="34" charset="-120"/>
              </a:rPr>
              <a:t>3</a:t>
            </a:r>
            <a:endParaRPr lang="en-US" sz="1000" dirty="0"/>
          </a:p>
        </p:txBody>
      </p:sp>
      <p:sp>
        <p:nvSpPr>
          <p:cNvPr id="12" name="Text 10"/>
          <p:cNvSpPr/>
          <p:nvPr/>
        </p:nvSpPr>
        <p:spPr>
          <a:xfrm>
            <a:off x="594360" y="3438144"/>
            <a:ext cx="1759306" cy="201168"/>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Narrative</a:t>
            </a:r>
            <a:endParaRPr lang="en-US" sz="1000" dirty="0"/>
          </a:p>
        </p:txBody>
      </p:sp>
      <p:sp>
        <p:nvSpPr>
          <p:cNvPr id="13" name="Shape 11"/>
          <p:cNvSpPr/>
          <p:nvPr/>
        </p:nvSpPr>
        <p:spPr>
          <a:xfrm>
            <a:off x="594360" y="3657600"/>
            <a:ext cx="3108960" cy="91440"/>
          </a:xfrm>
          <a:prstGeom prst="rect">
            <a:avLst/>
          </a:prstGeom>
          <a:solidFill>
            <a:srgbClr val="181E2E"/>
          </a:solidFill>
          <a:ln w="12700">
            <a:solidFill>
              <a:srgbClr val="252D40"/>
            </a:solidFill>
            <a:prstDash val="solid"/>
          </a:ln>
        </p:spPr>
      </p:sp>
      <p:sp>
        <p:nvSpPr>
          <p:cNvPr id="14" name="Text 12"/>
          <p:cNvSpPr/>
          <p:nvPr/>
        </p:nvSpPr>
        <p:spPr>
          <a:xfrm>
            <a:off x="3337560" y="3438144"/>
            <a:ext cx="365760" cy="201168"/>
          </a:xfrm>
          <a:prstGeom prst="rect">
            <a:avLst/>
          </a:prstGeom>
          <a:noFill/>
          <a:ln/>
        </p:spPr>
        <p:txBody>
          <a:bodyPr wrap="square" rtlCol="0" anchor="ctr"/>
          <a:lstStyle/>
          <a:p>
            <a:pPr algn="r" indent="0" marL="0">
              <a:buNone/>
            </a:pPr>
            <a:r>
              <a:rPr lang="en-US" sz="1000" b="1" dirty="0">
                <a:solidFill>
                  <a:srgbClr val="8FA3B8"/>
                </a:solidFill>
                <a:latin typeface="Calibri" pitchFamily="34" charset="0"/>
                <a:ea typeface="Calibri" pitchFamily="34" charset="-122"/>
                <a:cs typeface="Calibri" pitchFamily="34" charset="-120"/>
              </a:rPr>
              <a:t>0</a:t>
            </a:r>
            <a:endParaRPr lang="en-US" sz="1000" dirty="0"/>
          </a:p>
        </p:txBody>
      </p:sp>
      <p:sp>
        <p:nvSpPr>
          <p:cNvPr id="15" name="Text 13"/>
          <p:cNvSpPr/>
          <p:nvPr/>
        </p:nvSpPr>
        <p:spPr>
          <a:xfrm>
            <a:off x="594360" y="4005072"/>
            <a:ext cx="1759306" cy="201168"/>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Citation</a:t>
            </a:r>
            <a:endParaRPr lang="en-US" sz="1000" dirty="0"/>
          </a:p>
        </p:txBody>
      </p:sp>
      <p:sp>
        <p:nvSpPr>
          <p:cNvPr id="16" name="Shape 14"/>
          <p:cNvSpPr/>
          <p:nvPr/>
        </p:nvSpPr>
        <p:spPr>
          <a:xfrm>
            <a:off x="594360" y="4224528"/>
            <a:ext cx="3108960" cy="91440"/>
          </a:xfrm>
          <a:prstGeom prst="rect">
            <a:avLst/>
          </a:prstGeom>
          <a:solidFill>
            <a:srgbClr val="181E2E"/>
          </a:solidFill>
          <a:ln w="12700">
            <a:solidFill>
              <a:srgbClr val="252D40"/>
            </a:solidFill>
            <a:prstDash val="solid"/>
          </a:ln>
        </p:spPr>
      </p:sp>
      <p:sp>
        <p:nvSpPr>
          <p:cNvPr id="17" name="Text 15"/>
          <p:cNvSpPr/>
          <p:nvPr/>
        </p:nvSpPr>
        <p:spPr>
          <a:xfrm>
            <a:off x="3337560" y="4005072"/>
            <a:ext cx="365760" cy="201168"/>
          </a:xfrm>
          <a:prstGeom prst="rect">
            <a:avLst/>
          </a:prstGeom>
          <a:noFill/>
          <a:ln/>
        </p:spPr>
        <p:txBody>
          <a:bodyPr wrap="square" rtlCol="0" anchor="ctr"/>
          <a:lstStyle/>
          <a:p>
            <a:pPr algn="r" indent="0" marL="0">
              <a:buNone/>
            </a:pPr>
            <a:r>
              <a:rPr lang="en-US" sz="1000" b="1" dirty="0">
                <a:solidFill>
                  <a:srgbClr val="8FA3B8"/>
                </a:solidFill>
                <a:latin typeface="Calibri" pitchFamily="34" charset="0"/>
                <a:ea typeface="Calibri" pitchFamily="34" charset="-122"/>
                <a:cs typeface="Calibri" pitchFamily="34" charset="-120"/>
              </a:rPr>
              <a:t>0</a:t>
            </a:r>
            <a:endParaRPr lang="en-US" sz="1000" dirty="0"/>
          </a:p>
        </p:txBody>
      </p:sp>
      <p:sp>
        <p:nvSpPr>
          <p:cNvPr id="18" name="Text 16"/>
          <p:cNvSpPr/>
          <p:nvPr/>
        </p:nvSpPr>
        <p:spPr>
          <a:xfrm>
            <a:off x="594360" y="4572000"/>
            <a:ext cx="1759306" cy="201168"/>
          </a:xfrm>
          <a:prstGeom prst="rect">
            <a:avLst/>
          </a:prstGeom>
          <a:noFill/>
          <a:ln/>
        </p:spPr>
        <p:txBody>
          <a:bodyPr wrap="square" rtlCol="0" anchor="ctr"/>
          <a:lstStyle/>
          <a:p>
            <a:pPr indent="0" marL="0">
              <a:buNone/>
            </a:pPr>
            <a:r>
              <a:rPr lang="en-US" sz="1000" dirty="0">
                <a:solidFill>
                  <a:srgbClr val="8FA3B8"/>
                </a:solidFill>
                <a:latin typeface="Calibri" pitchFamily="34" charset="0"/>
                <a:ea typeface="Calibri" pitchFamily="34" charset="-122"/>
                <a:cs typeface="Calibri" pitchFamily="34" charset="-120"/>
              </a:rPr>
              <a:t>AEO</a:t>
            </a:r>
            <a:endParaRPr lang="en-US" sz="1000" dirty="0"/>
          </a:p>
        </p:txBody>
      </p:sp>
      <p:sp>
        <p:nvSpPr>
          <p:cNvPr id="19" name="Shape 17"/>
          <p:cNvSpPr/>
          <p:nvPr/>
        </p:nvSpPr>
        <p:spPr>
          <a:xfrm>
            <a:off x="594360" y="4791456"/>
            <a:ext cx="3108960" cy="91440"/>
          </a:xfrm>
          <a:prstGeom prst="rect">
            <a:avLst/>
          </a:prstGeom>
          <a:solidFill>
            <a:srgbClr val="181E2E"/>
          </a:solidFill>
          <a:ln w="12700">
            <a:solidFill>
              <a:srgbClr val="252D40"/>
            </a:solidFill>
            <a:prstDash val="solid"/>
          </a:ln>
        </p:spPr>
      </p:sp>
      <p:sp>
        <p:nvSpPr>
          <p:cNvPr id="20" name="Shape 18"/>
          <p:cNvSpPr/>
          <p:nvPr/>
        </p:nvSpPr>
        <p:spPr>
          <a:xfrm>
            <a:off x="594360" y="4791456"/>
            <a:ext cx="559613" cy="91440"/>
          </a:xfrm>
          <a:prstGeom prst="rect">
            <a:avLst/>
          </a:prstGeom>
          <a:solidFill>
            <a:srgbClr val="3D8EF0"/>
          </a:solidFill>
          <a:ln w="12700">
            <a:solidFill>
              <a:srgbClr val="3D8EF0"/>
            </a:solidFill>
            <a:prstDash val="solid"/>
          </a:ln>
        </p:spPr>
      </p:sp>
      <p:sp>
        <p:nvSpPr>
          <p:cNvPr id="21" name="Text 19"/>
          <p:cNvSpPr/>
          <p:nvPr/>
        </p:nvSpPr>
        <p:spPr>
          <a:xfrm>
            <a:off x="3337560" y="4572000"/>
            <a:ext cx="365760" cy="201168"/>
          </a:xfrm>
          <a:prstGeom prst="rect">
            <a:avLst/>
          </a:prstGeom>
          <a:noFill/>
          <a:ln/>
        </p:spPr>
        <p:txBody>
          <a:bodyPr wrap="square" rtlCol="0" anchor="ctr"/>
          <a:lstStyle/>
          <a:p>
            <a:pPr algn="r" indent="0" marL="0">
              <a:buNone/>
            </a:pPr>
            <a:r>
              <a:rPr lang="en-US" sz="1000" b="1" dirty="0">
                <a:solidFill>
                  <a:srgbClr val="3D8EF0"/>
                </a:solidFill>
                <a:latin typeface="Calibri" pitchFamily="34" charset="0"/>
                <a:ea typeface="Calibri" pitchFamily="34" charset="-122"/>
                <a:cs typeface="Calibri" pitchFamily="34" charset="-120"/>
              </a:rPr>
              <a:t>18</a:t>
            </a:r>
            <a:endParaRPr lang="en-US" sz="1000" dirty="0"/>
          </a:p>
        </p:txBody>
      </p:sp>
      <p:sp>
        <p:nvSpPr>
          <p:cNvPr id="22" name="Text 20"/>
          <p:cNvSpPr/>
          <p:nvPr/>
        </p:nvSpPr>
        <p:spPr>
          <a:xfrm>
            <a:off x="457200" y="6382512"/>
            <a:ext cx="11247120" cy="219456"/>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Score = (SoV×0.25) + (Narrative×0.25) + (Citation×0.20) + (AEO×0.30)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7"/>
        </a:solidFill>
      </p:bgPr>
    </p:bg>
    <p:spTree>
      <p:nvGrpSpPr>
        <p:cNvPr id="1" name=""/>
        <p:cNvGrpSpPr/>
        <p:nvPr/>
      </p:nvGrpSpPr>
      <p:grpSpPr>
        <a:xfrm>
          <a:off x="0" y="0"/>
          <a:ext cx="0" cy="0"/>
          <a:chOff x="0" y="0"/>
          <a:chExt cx="0" cy="0"/>
        </a:xfrm>
      </p:grpSpPr>
      <p:sp>
        <p:nvSpPr>
          <p:cNvPr id="2" name="Text 0"/>
          <p:cNvSpPr/>
          <p:nvPr/>
        </p:nvSpPr>
        <p:spPr>
          <a:xfrm>
            <a:off x="457200" y="228600"/>
            <a:ext cx="11247120" cy="201168"/>
          </a:xfrm>
          <a:prstGeom prst="rect">
            <a:avLst/>
          </a:prstGeom>
          <a:noFill/>
          <a:ln/>
        </p:spPr>
        <p:txBody>
          <a:bodyPr wrap="square" rtlCol="0" anchor="ctr"/>
          <a:lstStyle/>
          <a:p>
            <a:pPr indent="0" marL="0">
              <a:buNone/>
            </a:pPr>
            <a:r>
              <a:rPr lang="en-US" sz="900" b="1" spc="300" kern="0" dirty="0">
                <a:solidFill>
                  <a:srgbClr val="C9922A"/>
                </a:solidFill>
                <a:latin typeface="Calibri" pitchFamily="34" charset="0"/>
                <a:ea typeface="Calibri" pitchFamily="34" charset="-122"/>
                <a:cs typeface="Calibri" pitchFamily="34" charset="-120"/>
              </a:rPr>
              <a:t>SECTION 10</a:t>
            </a:r>
            <a:endParaRPr lang="en-US" sz="900" dirty="0"/>
          </a:p>
        </p:txBody>
      </p:sp>
      <p:sp>
        <p:nvSpPr>
          <p:cNvPr id="3" name="Text 1"/>
          <p:cNvSpPr/>
          <p:nvPr/>
        </p:nvSpPr>
        <p:spPr>
          <a:xfrm>
            <a:off x="457200" y="475488"/>
            <a:ext cx="11247120" cy="502920"/>
          </a:xfrm>
          <a:prstGeom prst="rect">
            <a:avLst/>
          </a:prstGeom>
          <a:noFill/>
          <a:ln/>
        </p:spPr>
        <p:txBody>
          <a:bodyPr wrap="square" rtlCol="0" anchor="ctr"/>
          <a:lstStyle/>
          <a:p>
            <a:pPr indent="0" marL="0">
              <a:buNone/>
            </a:pPr>
            <a:r>
              <a:rPr lang="en-US" sz="2800" b="1" dirty="0">
                <a:solidFill>
                  <a:srgbClr val="D8E4F0"/>
                </a:solidFill>
                <a:latin typeface="Cambria" pitchFamily="34" charset="0"/>
                <a:ea typeface="Cambria" pitchFamily="34" charset="-122"/>
                <a:cs typeface="Cambria" pitchFamily="34" charset="-120"/>
              </a:rPr>
              <a:t>Action Matrix</a:t>
            </a:r>
            <a:endParaRPr lang="en-US" sz="2800" dirty="0"/>
          </a:p>
        </p:txBody>
      </p:sp>
      <p:sp>
        <p:nvSpPr>
          <p:cNvPr id="4" name="Text 2"/>
          <p:cNvSpPr/>
          <p:nvPr/>
        </p:nvSpPr>
        <p:spPr>
          <a:xfrm>
            <a:off x="457200" y="1170432"/>
            <a:ext cx="11247120" cy="256032"/>
          </a:xfrm>
          <a:prstGeom prst="rect">
            <a:avLst/>
          </a:prstGeom>
          <a:noFill/>
          <a:ln/>
        </p:spPr>
        <p:txBody>
          <a:bodyPr wrap="square" rtlCol="0" anchor="ctr"/>
          <a:lstStyle/>
          <a:p>
            <a:pPr indent="0" marL="0">
              <a:buNone/>
            </a:pPr>
            <a:r>
              <a:rPr lang="en-US" sz="1100" b="1" spc="100" kern="0" dirty="0">
                <a:solidFill>
                  <a:srgbClr val="3D8EF0"/>
                </a:solidFill>
                <a:latin typeface="Calibri" pitchFamily="34" charset="0"/>
                <a:ea typeface="Calibri" pitchFamily="34" charset="-122"/>
                <a:cs typeface="Calibri" pitchFamily="34" charset="-120"/>
              </a:rPr>
              <a:t>CEEW</a:t>
            </a:r>
            <a:endParaRPr lang="en-US" sz="1100" dirty="0"/>
          </a:p>
        </p:txBody>
      </p:sp>
      <p:sp>
        <p:nvSpPr>
          <p:cNvPr id="5" name="Shape 3"/>
          <p:cNvSpPr/>
          <p:nvPr/>
        </p:nvSpPr>
        <p:spPr>
          <a:xfrm>
            <a:off x="457200" y="1463040"/>
            <a:ext cx="11247120" cy="658368"/>
          </a:xfrm>
          <a:prstGeom prst="roundRect">
            <a:avLst>
              <a:gd name="adj" fmla="val 11111"/>
            </a:avLst>
          </a:prstGeom>
          <a:solidFill>
            <a:srgbClr val="111520"/>
          </a:solidFill>
          <a:ln w="6350">
            <a:solidFill>
              <a:srgbClr val="252D40"/>
            </a:solidFill>
            <a:prstDash val="solid"/>
          </a:ln>
        </p:spPr>
      </p:sp>
      <p:sp>
        <p:nvSpPr>
          <p:cNvPr id="6" name="Shape 4"/>
          <p:cNvSpPr/>
          <p:nvPr/>
        </p:nvSpPr>
        <p:spPr>
          <a:xfrm>
            <a:off x="457200" y="1463040"/>
            <a:ext cx="1005840" cy="658368"/>
          </a:xfrm>
          <a:prstGeom prst="roundRect">
            <a:avLst>
              <a:gd name="adj" fmla="val 5556"/>
            </a:avLst>
          </a:prstGeom>
          <a:solidFill>
            <a:srgbClr val="D4A017">
              <a:alpha val="25000"/>
            </a:srgbClr>
          </a:solidFill>
          <a:ln w="6350">
            <a:solidFill>
              <a:srgbClr val="D4A017"/>
            </a:solidFill>
            <a:prstDash val="solid"/>
          </a:ln>
        </p:spPr>
      </p:sp>
      <p:sp>
        <p:nvSpPr>
          <p:cNvPr id="7" name="Text 5"/>
          <p:cNvSpPr/>
          <p:nvPr/>
        </p:nvSpPr>
        <p:spPr>
          <a:xfrm>
            <a:off x="457200" y="1664208"/>
            <a:ext cx="1005840" cy="256032"/>
          </a:xfrm>
          <a:prstGeom prst="rect">
            <a:avLst/>
          </a:prstGeom>
          <a:noFill/>
          <a:ln/>
        </p:spPr>
        <p:txBody>
          <a:bodyPr wrap="square" rtlCol="0" anchor="ctr"/>
          <a:lstStyle/>
          <a:p>
            <a:pPr algn="ctr" indent="0" marL="0">
              <a:buNone/>
            </a:pPr>
            <a:r>
              <a:rPr lang="en-US" sz="900" b="1" dirty="0">
                <a:solidFill>
                  <a:srgbClr val="D8E4F0"/>
                </a:solidFill>
                <a:latin typeface="Calibri" pitchFamily="34" charset="0"/>
                <a:ea typeface="Calibri" pitchFamily="34" charset="-122"/>
                <a:cs typeface="Calibri" pitchFamily="34" charset="-120"/>
              </a:rPr>
              <a:t>Fix Now</a:t>
            </a:r>
            <a:endParaRPr lang="en-US" sz="900" dirty="0"/>
          </a:p>
        </p:txBody>
      </p:sp>
      <p:sp>
        <p:nvSpPr>
          <p:cNvPr id="8" name="Text 6"/>
          <p:cNvSpPr/>
          <p:nvPr/>
        </p:nvSpPr>
        <p:spPr>
          <a:xfrm>
            <a:off x="1572768" y="1517904"/>
            <a:ext cx="5120640" cy="274320"/>
          </a:xfrm>
          <a:prstGeom prst="rect">
            <a:avLst/>
          </a:prstGeom>
          <a:noFill/>
          <a:ln/>
        </p:spPr>
        <p:txBody>
          <a:bodyPr wrap="square" rtlCol="0" anchor="ctr"/>
          <a:lstStyle/>
          <a:p>
            <a:pPr indent="0" marL="0">
              <a:buNone/>
            </a:pPr>
            <a:r>
              <a:rPr lang="en-US" sz="1100" b="1" dirty="0">
                <a:solidFill>
                  <a:srgbClr val="D8E4F0"/>
                </a:solidFill>
                <a:latin typeface="Calibri" pitchFamily="34" charset="0"/>
                <a:ea typeface="Calibri" pitchFamily="34" charset="-122"/>
                <a:cs typeface="Calibri" pitchFamily="34" charset="-120"/>
              </a:rPr>
              <a:t>Establish systematic media outreach program targeting top-tier Indian air quality outlets (Times of India, Hindu, Indian Express) with monthly press releases on CEEW research findings and policy recommendations</a:t>
            </a:r>
            <a:endParaRPr lang="en-US" sz="1100" dirty="0"/>
          </a:p>
        </p:txBody>
      </p:sp>
      <p:sp>
        <p:nvSpPr>
          <p:cNvPr id="9" name="Text 7"/>
          <p:cNvSpPr/>
          <p:nvPr/>
        </p:nvSpPr>
        <p:spPr>
          <a:xfrm>
            <a:off x="1572768" y="1810512"/>
            <a:ext cx="1097280" cy="201168"/>
          </a:xfrm>
          <a:prstGeom prst="rect">
            <a:avLst/>
          </a:prstGeom>
          <a:noFill/>
          <a:ln/>
        </p:spPr>
        <p:txBody>
          <a:bodyPr wrap="square" rtlCol="0" anchor="ctr"/>
          <a:lstStyle/>
          <a:p>
            <a:pPr indent="0" marL="0">
              <a:buNone/>
            </a:pPr>
            <a:r>
              <a:rPr lang="en-US" sz="900" dirty="0">
                <a:solidFill>
                  <a:srgbClr val="C9922A"/>
                </a:solidFill>
                <a:latin typeface="Calibri" pitchFamily="34" charset="0"/>
                <a:ea typeface="Calibri" pitchFamily="34" charset="-122"/>
                <a:cs typeface="Calibri" pitchFamily="34" charset="-120"/>
              </a:rPr>
              <a:t>Media</a:t>
            </a:r>
            <a:endParaRPr lang="en-US" sz="900" dirty="0"/>
          </a:p>
        </p:txBody>
      </p:sp>
      <p:sp>
        <p:nvSpPr>
          <p:cNvPr id="10" name="Text 8"/>
          <p:cNvSpPr/>
          <p:nvPr/>
        </p:nvSpPr>
        <p:spPr>
          <a:xfrm>
            <a:off x="2788920" y="1810512"/>
            <a:ext cx="8732520" cy="256032"/>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Currently relies on single outlet (Times of India) with no diversified media presence. Systematic outreach will multiply visibility and establish CEEW as authoritative voice on Indian air quality.</a:t>
            </a:r>
            <a:endParaRPr lang="en-US" sz="900" dirty="0"/>
          </a:p>
        </p:txBody>
      </p:sp>
      <p:sp>
        <p:nvSpPr>
          <p:cNvPr id="11" name="Shape 9"/>
          <p:cNvSpPr/>
          <p:nvPr/>
        </p:nvSpPr>
        <p:spPr>
          <a:xfrm>
            <a:off x="457200" y="2212848"/>
            <a:ext cx="11247120" cy="658368"/>
          </a:xfrm>
          <a:prstGeom prst="roundRect">
            <a:avLst>
              <a:gd name="adj" fmla="val 11111"/>
            </a:avLst>
          </a:prstGeom>
          <a:solidFill>
            <a:srgbClr val="111520"/>
          </a:solidFill>
          <a:ln w="6350">
            <a:solidFill>
              <a:srgbClr val="252D40"/>
            </a:solidFill>
            <a:prstDash val="solid"/>
          </a:ln>
        </p:spPr>
      </p:sp>
      <p:sp>
        <p:nvSpPr>
          <p:cNvPr id="12" name="Shape 10"/>
          <p:cNvSpPr/>
          <p:nvPr/>
        </p:nvSpPr>
        <p:spPr>
          <a:xfrm>
            <a:off x="457200" y="2212848"/>
            <a:ext cx="1005840" cy="658368"/>
          </a:xfrm>
          <a:prstGeom prst="roundRect">
            <a:avLst>
              <a:gd name="adj" fmla="val 5556"/>
            </a:avLst>
          </a:prstGeom>
          <a:solidFill>
            <a:srgbClr val="D4A017">
              <a:alpha val="25000"/>
            </a:srgbClr>
          </a:solidFill>
          <a:ln w="6350">
            <a:solidFill>
              <a:srgbClr val="D4A017"/>
            </a:solidFill>
            <a:prstDash val="solid"/>
          </a:ln>
        </p:spPr>
      </p:sp>
      <p:sp>
        <p:nvSpPr>
          <p:cNvPr id="13" name="Text 11"/>
          <p:cNvSpPr/>
          <p:nvPr/>
        </p:nvSpPr>
        <p:spPr>
          <a:xfrm>
            <a:off x="457200" y="2414016"/>
            <a:ext cx="1005840" cy="256032"/>
          </a:xfrm>
          <a:prstGeom prst="rect">
            <a:avLst/>
          </a:prstGeom>
          <a:noFill/>
          <a:ln/>
        </p:spPr>
        <p:txBody>
          <a:bodyPr wrap="square" rtlCol="0" anchor="ctr"/>
          <a:lstStyle/>
          <a:p>
            <a:pPr algn="ctr" indent="0" marL="0">
              <a:buNone/>
            </a:pPr>
            <a:r>
              <a:rPr lang="en-US" sz="900" b="1" dirty="0">
                <a:solidFill>
                  <a:srgbClr val="D8E4F0"/>
                </a:solidFill>
                <a:latin typeface="Calibri" pitchFamily="34" charset="0"/>
                <a:ea typeface="Calibri" pitchFamily="34" charset="-122"/>
                <a:cs typeface="Calibri" pitchFamily="34" charset="-120"/>
              </a:rPr>
              <a:t>Fix Now</a:t>
            </a:r>
            <a:endParaRPr lang="en-US" sz="900" dirty="0"/>
          </a:p>
        </p:txBody>
      </p:sp>
      <p:sp>
        <p:nvSpPr>
          <p:cNvPr id="14" name="Text 12"/>
          <p:cNvSpPr/>
          <p:nvPr/>
        </p:nvSpPr>
        <p:spPr>
          <a:xfrm>
            <a:off x="1572768" y="2267712"/>
            <a:ext cx="5120640" cy="274320"/>
          </a:xfrm>
          <a:prstGeom prst="rect">
            <a:avLst/>
          </a:prstGeom>
          <a:noFill/>
          <a:ln/>
        </p:spPr>
        <p:txBody>
          <a:bodyPr wrap="square" rtlCol="0" anchor="ctr"/>
          <a:lstStyle/>
          <a:p>
            <a:pPr indent="0" marL="0">
              <a:buNone/>
            </a:pPr>
            <a:r>
              <a:rPr lang="en-US" sz="1100" b="1" dirty="0">
                <a:solidFill>
                  <a:srgbClr val="D8E4F0"/>
                </a:solidFill>
                <a:latin typeface="Calibri" pitchFamily="34" charset="0"/>
                <a:ea typeface="Calibri" pitchFamily="34" charset="-122"/>
                <a:cs typeface="Calibri" pitchFamily="34" charset="-120"/>
              </a:rPr>
              <a:t>Launch foundational social media presence starting with LinkedIn (policy/corporate audience) and YouTube (research explainers), posting 2x weekly with air quality data visualizations and policy briefs</a:t>
            </a:r>
            <a:endParaRPr lang="en-US" sz="1100" dirty="0"/>
          </a:p>
        </p:txBody>
      </p:sp>
      <p:sp>
        <p:nvSpPr>
          <p:cNvPr id="15" name="Text 13"/>
          <p:cNvSpPr/>
          <p:nvPr/>
        </p:nvSpPr>
        <p:spPr>
          <a:xfrm>
            <a:off x="1572768" y="2560320"/>
            <a:ext cx="1097280" cy="201168"/>
          </a:xfrm>
          <a:prstGeom prst="rect">
            <a:avLst/>
          </a:prstGeom>
          <a:noFill/>
          <a:ln/>
        </p:spPr>
        <p:txBody>
          <a:bodyPr wrap="square" rtlCol="0" anchor="ctr"/>
          <a:lstStyle/>
          <a:p>
            <a:pPr indent="0" marL="0">
              <a:buNone/>
            </a:pPr>
            <a:r>
              <a:rPr lang="en-US" sz="900" dirty="0">
                <a:solidFill>
                  <a:srgbClr val="C9922A"/>
                </a:solidFill>
                <a:latin typeface="Calibri" pitchFamily="34" charset="0"/>
                <a:ea typeface="Calibri" pitchFamily="34" charset="-122"/>
                <a:cs typeface="Calibri" pitchFamily="34" charset="-120"/>
              </a:rPr>
              <a:t>Social</a:t>
            </a:r>
            <a:endParaRPr lang="en-US" sz="900" dirty="0"/>
          </a:p>
        </p:txBody>
      </p:sp>
      <p:sp>
        <p:nvSpPr>
          <p:cNvPr id="16" name="Text 14"/>
          <p:cNvSpPr/>
          <p:nvPr/>
        </p:nvSpPr>
        <p:spPr>
          <a:xfrm>
            <a:off x="2788920" y="2560320"/>
            <a:ext cx="8732520" cy="256032"/>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Currently zero social engagement (0/10 score, all platforms at 0) despite media credibility. Social channels will amplify existing Times of India mentions and reach policy stakeholders at no cost.</a:t>
            </a:r>
            <a:endParaRPr lang="en-US" sz="900" dirty="0"/>
          </a:p>
        </p:txBody>
      </p:sp>
      <p:sp>
        <p:nvSpPr>
          <p:cNvPr id="17" name="Shape 15"/>
          <p:cNvSpPr/>
          <p:nvPr/>
        </p:nvSpPr>
        <p:spPr>
          <a:xfrm>
            <a:off x="457200" y="2962656"/>
            <a:ext cx="11247120" cy="658368"/>
          </a:xfrm>
          <a:prstGeom prst="roundRect">
            <a:avLst>
              <a:gd name="adj" fmla="val 11111"/>
            </a:avLst>
          </a:prstGeom>
          <a:solidFill>
            <a:srgbClr val="111520"/>
          </a:solidFill>
          <a:ln w="6350">
            <a:solidFill>
              <a:srgbClr val="252D40"/>
            </a:solidFill>
            <a:prstDash val="solid"/>
          </a:ln>
        </p:spPr>
      </p:sp>
      <p:sp>
        <p:nvSpPr>
          <p:cNvPr id="18" name="Shape 16"/>
          <p:cNvSpPr/>
          <p:nvPr/>
        </p:nvSpPr>
        <p:spPr>
          <a:xfrm>
            <a:off x="457200" y="2962656"/>
            <a:ext cx="1005840" cy="658368"/>
          </a:xfrm>
          <a:prstGeom prst="roundRect">
            <a:avLst>
              <a:gd name="adj" fmla="val 5556"/>
            </a:avLst>
          </a:prstGeom>
          <a:solidFill>
            <a:srgbClr val="4CAF74">
              <a:alpha val="25000"/>
            </a:srgbClr>
          </a:solidFill>
          <a:ln w="6350">
            <a:solidFill>
              <a:srgbClr val="4CAF74"/>
            </a:solidFill>
            <a:prstDash val="solid"/>
          </a:ln>
        </p:spPr>
      </p:sp>
      <p:sp>
        <p:nvSpPr>
          <p:cNvPr id="19" name="Text 17"/>
          <p:cNvSpPr/>
          <p:nvPr/>
        </p:nvSpPr>
        <p:spPr>
          <a:xfrm>
            <a:off x="457200" y="3163824"/>
            <a:ext cx="1005840" cy="256032"/>
          </a:xfrm>
          <a:prstGeom prst="rect">
            <a:avLst/>
          </a:prstGeom>
          <a:noFill/>
          <a:ln/>
        </p:spPr>
        <p:txBody>
          <a:bodyPr wrap="square" rtlCol="0" anchor="ctr"/>
          <a:lstStyle/>
          <a:p>
            <a:pPr algn="ctr" indent="0" marL="0">
              <a:buNone/>
            </a:pPr>
            <a:r>
              <a:rPr lang="en-US" sz="900" b="1" dirty="0">
                <a:solidFill>
                  <a:srgbClr val="D8E4F0"/>
                </a:solidFill>
                <a:latin typeface="Calibri" pitchFamily="34" charset="0"/>
                <a:ea typeface="Calibri" pitchFamily="34" charset="-122"/>
                <a:cs typeface="Calibri" pitchFamily="34" charset="-120"/>
              </a:rPr>
              <a:t>Leverage</a:t>
            </a:r>
            <a:endParaRPr lang="en-US" sz="900" dirty="0"/>
          </a:p>
        </p:txBody>
      </p:sp>
      <p:sp>
        <p:nvSpPr>
          <p:cNvPr id="20" name="Text 18"/>
          <p:cNvSpPr/>
          <p:nvPr/>
        </p:nvSpPr>
        <p:spPr>
          <a:xfrm>
            <a:off x="1572768" y="3017520"/>
            <a:ext cx="5120640" cy="274320"/>
          </a:xfrm>
          <a:prstGeom prst="rect">
            <a:avLst/>
          </a:prstGeom>
          <a:noFill/>
          <a:ln/>
        </p:spPr>
        <p:txBody>
          <a:bodyPr wrap="square" rtlCol="0" anchor="ctr"/>
          <a:lstStyle/>
          <a:p>
            <a:pPr indent="0" marL="0">
              <a:buNone/>
            </a:pPr>
            <a:r>
              <a:rPr lang="en-US" sz="1100" b="1" dirty="0">
                <a:solidFill>
                  <a:srgbClr val="D8E4F0"/>
                </a:solidFill>
                <a:latin typeface="Calibri" pitchFamily="34" charset="0"/>
                <a:ea typeface="Calibri" pitchFamily="34" charset="-122"/>
                <a:cs typeface="Calibri" pitchFamily="34" charset="-120"/>
              </a:rPr>
              <a:t>Develop signature topic clusters around 'Health Economics of Air Pollution' and 'Regional AQ-Energy Nexus' with dedicated research pages and regular data updates to establish thought leadership</a:t>
            </a:r>
            <a:endParaRPr lang="en-US" sz="1100" dirty="0"/>
          </a:p>
        </p:txBody>
      </p:sp>
      <p:sp>
        <p:nvSpPr>
          <p:cNvPr id="21" name="Text 19"/>
          <p:cNvSpPr/>
          <p:nvPr/>
        </p:nvSpPr>
        <p:spPr>
          <a:xfrm>
            <a:off x="1572768" y="3310128"/>
            <a:ext cx="1097280" cy="201168"/>
          </a:xfrm>
          <a:prstGeom prst="rect">
            <a:avLst/>
          </a:prstGeom>
          <a:noFill/>
          <a:ln/>
        </p:spPr>
        <p:txBody>
          <a:bodyPr wrap="square" rtlCol="0" anchor="ctr"/>
          <a:lstStyle/>
          <a:p>
            <a:pPr indent="0" marL="0">
              <a:buNone/>
            </a:pPr>
            <a:r>
              <a:rPr lang="en-US" sz="900" dirty="0">
                <a:solidFill>
                  <a:srgbClr val="C9922A"/>
                </a:solidFill>
                <a:latin typeface="Calibri" pitchFamily="34" charset="0"/>
                <a:ea typeface="Calibri" pitchFamily="34" charset="-122"/>
                <a:cs typeface="Calibri" pitchFamily="34" charset="-120"/>
              </a:rPr>
              <a:t>Topics</a:t>
            </a:r>
            <a:endParaRPr lang="en-US" sz="900" dirty="0"/>
          </a:p>
        </p:txBody>
      </p:sp>
      <p:sp>
        <p:nvSpPr>
          <p:cNvPr id="22" name="Text 20"/>
          <p:cNvSpPr/>
          <p:nvPr/>
        </p:nvSpPr>
        <p:spPr>
          <a:xfrm>
            <a:off x="2788920" y="3310128"/>
            <a:ext cx="8732520" cy="256032"/>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No multi-topic positioning currently (0% data-specific content). Creating 2-3 signature topics will differentiate CEEW in crowded Indian think tank space and improve SEO/discoverability.</a:t>
            </a:r>
            <a:endParaRPr lang="en-US" sz="900" dirty="0"/>
          </a:p>
        </p:txBody>
      </p:sp>
      <p:sp>
        <p:nvSpPr>
          <p:cNvPr id="23" name="Shape 21"/>
          <p:cNvSpPr/>
          <p:nvPr/>
        </p:nvSpPr>
        <p:spPr>
          <a:xfrm>
            <a:off x="457200" y="3712464"/>
            <a:ext cx="11247120" cy="658368"/>
          </a:xfrm>
          <a:prstGeom prst="roundRect">
            <a:avLst>
              <a:gd name="adj" fmla="val 11111"/>
            </a:avLst>
          </a:prstGeom>
          <a:solidFill>
            <a:srgbClr val="111520"/>
          </a:solidFill>
          <a:ln w="6350">
            <a:solidFill>
              <a:srgbClr val="252D40"/>
            </a:solidFill>
            <a:prstDash val="solid"/>
          </a:ln>
        </p:spPr>
      </p:sp>
      <p:sp>
        <p:nvSpPr>
          <p:cNvPr id="24" name="Shape 22"/>
          <p:cNvSpPr/>
          <p:nvPr/>
        </p:nvSpPr>
        <p:spPr>
          <a:xfrm>
            <a:off x="457200" y="3712464"/>
            <a:ext cx="1005840" cy="658368"/>
          </a:xfrm>
          <a:prstGeom prst="roundRect">
            <a:avLst>
              <a:gd name="adj" fmla="val 5556"/>
            </a:avLst>
          </a:prstGeom>
          <a:solidFill>
            <a:srgbClr val="3D8EF0">
              <a:alpha val="25000"/>
            </a:srgbClr>
          </a:solidFill>
          <a:ln w="6350">
            <a:solidFill>
              <a:srgbClr val="3D8EF0"/>
            </a:solidFill>
            <a:prstDash val="solid"/>
          </a:ln>
        </p:spPr>
      </p:sp>
      <p:sp>
        <p:nvSpPr>
          <p:cNvPr id="25" name="Text 23"/>
          <p:cNvSpPr/>
          <p:nvPr/>
        </p:nvSpPr>
        <p:spPr>
          <a:xfrm>
            <a:off x="457200" y="3913632"/>
            <a:ext cx="1005840" cy="256032"/>
          </a:xfrm>
          <a:prstGeom prst="rect">
            <a:avLst/>
          </a:prstGeom>
          <a:noFill/>
          <a:ln/>
        </p:spPr>
        <p:txBody>
          <a:bodyPr wrap="square" rtlCol="0" anchor="ctr"/>
          <a:lstStyle/>
          <a:p>
            <a:pPr algn="ctr" indent="0" marL="0">
              <a:buNone/>
            </a:pPr>
            <a:r>
              <a:rPr lang="en-US" sz="900" b="1" dirty="0">
                <a:solidFill>
                  <a:srgbClr val="D8E4F0"/>
                </a:solidFill>
                <a:latin typeface="Calibri" pitchFamily="34" charset="0"/>
                <a:ea typeface="Calibri" pitchFamily="34" charset="-122"/>
                <a:cs typeface="Calibri" pitchFamily="34" charset="-120"/>
              </a:rPr>
              <a:t>Optimise</a:t>
            </a:r>
            <a:endParaRPr lang="en-US" sz="900" dirty="0"/>
          </a:p>
        </p:txBody>
      </p:sp>
      <p:sp>
        <p:nvSpPr>
          <p:cNvPr id="26" name="Text 24"/>
          <p:cNvSpPr/>
          <p:nvPr/>
        </p:nvSpPr>
        <p:spPr>
          <a:xfrm>
            <a:off x="1572768" y="3767328"/>
            <a:ext cx="5120640" cy="274320"/>
          </a:xfrm>
          <a:prstGeom prst="rect">
            <a:avLst/>
          </a:prstGeom>
          <a:noFill/>
          <a:ln/>
        </p:spPr>
        <p:txBody>
          <a:bodyPr wrap="square" rtlCol="0" anchor="ctr"/>
          <a:lstStyle/>
          <a:p>
            <a:pPr indent="0" marL="0">
              <a:buNone/>
            </a:pPr>
            <a:r>
              <a:rPr lang="en-US" sz="1100" b="1" dirty="0">
                <a:solidFill>
                  <a:srgbClr val="D8E4F0"/>
                </a:solidFill>
                <a:latin typeface="Calibri" pitchFamily="34" charset="0"/>
                <a:ea typeface="Calibri" pitchFamily="34" charset="-122"/>
                <a:cs typeface="Calibri" pitchFamily="34" charset="-120"/>
              </a:rPr>
              <a:t>Audit and optimize website architecture for air quality-related search terms (e.g., 'India air quality data,' 'AQI forecast,' 'pollution policy'), implement internal linking between research pieces, and establish citation partnerships with Indian environmental media outlets</a:t>
            </a:r>
            <a:endParaRPr lang="en-US" sz="1100" dirty="0"/>
          </a:p>
        </p:txBody>
      </p:sp>
      <p:sp>
        <p:nvSpPr>
          <p:cNvPr id="27" name="Text 25"/>
          <p:cNvSpPr/>
          <p:nvPr/>
        </p:nvSpPr>
        <p:spPr>
          <a:xfrm>
            <a:off x="1572768" y="4059936"/>
            <a:ext cx="1097280" cy="201168"/>
          </a:xfrm>
          <a:prstGeom prst="rect">
            <a:avLst/>
          </a:prstGeom>
          <a:noFill/>
          <a:ln/>
        </p:spPr>
        <p:txBody>
          <a:bodyPr wrap="square" rtlCol="0" anchor="ctr"/>
          <a:lstStyle/>
          <a:p>
            <a:pPr indent="0" marL="0">
              <a:buNone/>
            </a:pPr>
            <a:r>
              <a:rPr lang="en-US" sz="900" dirty="0">
                <a:solidFill>
                  <a:srgbClr val="C9922A"/>
                </a:solidFill>
                <a:latin typeface="Calibri" pitchFamily="34" charset="0"/>
                <a:ea typeface="Calibri" pitchFamily="34" charset="-122"/>
                <a:cs typeface="Calibri" pitchFamily="34" charset="-120"/>
              </a:rPr>
              <a:t>AEO</a:t>
            </a:r>
            <a:endParaRPr lang="en-US" sz="900" dirty="0"/>
          </a:p>
        </p:txBody>
      </p:sp>
      <p:sp>
        <p:nvSpPr>
          <p:cNvPr id="28" name="Text 26"/>
          <p:cNvSpPr/>
          <p:nvPr/>
        </p:nvSpPr>
        <p:spPr>
          <a:xfrm>
            <a:off x="2788920" y="4059936"/>
            <a:ext cx="8732520" cy="256032"/>
          </a:xfrm>
          <a:prstGeom prst="rect">
            <a:avLst/>
          </a:prstGeom>
          <a:noFill/>
          <a:ln/>
        </p:spPr>
        <p:txBody>
          <a:bodyPr wrap="square" rtlCol="0" anchor="ctr"/>
          <a:lstStyle/>
          <a:p>
            <a:pPr indent="0" marL="0">
              <a:buNone/>
            </a:pPr>
            <a:r>
              <a:rPr lang="en-US" sz="900" dirty="0">
                <a:solidFill>
                  <a:srgbClr val="8FA3B8"/>
                </a:solidFill>
                <a:latin typeface="Calibri" pitchFamily="34" charset="0"/>
                <a:ea typeface="Calibri" pitchFamily="34" charset="-122"/>
                <a:cs typeface="Calibri" pitchFamily="34" charset="-120"/>
              </a:rPr>
              <a:t>AEO score of 18/100 indicates significant organic search potential remains untapped. Targeting high-volume Indian AQ queries will drive consistent referral traffic from media researchers and policy audiences.</a:t>
            </a:r>
            <a:endParaRPr lang="en-US" sz="900" dirty="0"/>
          </a:p>
        </p:txBody>
      </p:sp>
      <p:sp>
        <p:nvSpPr>
          <p:cNvPr id="29" name="Text 27"/>
          <p:cNvSpPr/>
          <p:nvPr/>
        </p:nvSpPr>
        <p:spPr>
          <a:xfrm>
            <a:off x="457200" y="6537960"/>
            <a:ext cx="11247120" cy="201168"/>
          </a:xfrm>
          <a:prstGeom prst="rect">
            <a:avLst/>
          </a:prstGeom>
          <a:noFill/>
          <a:ln/>
        </p:spPr>
        <p:txBody>
          <a:bodyPr wrap="square" rtlCol="0" anchor="ctr"/>
          <a:lstStyle/>
          <a:p>
            <a:pPr indent="0" marL="0">
              <a:buNone/>
            </a:pPr>
            <a:r>
              <a:rPr lang="en-US" sz="800" dirty="0">
                <a:solidFill>
                  <a:srgbClr val="8FA3B8"/>
                </a:solidFill>
                <a:latin typeface="Calibri" pitchFamily="34" charset="0"/>
                <a:ea typeface="Calibri" pitchFamily="34" charset="-122"/>
                <a:cs typeface="Calibri" pitchFamily="34" charset="-120"/>
              </a:rPr>
              <a:t>Emerald AI · AQ Intelligence · 2026-03-08 to 2026-06-08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 Media Intelligence — CEEW</dc:title>
  <dc:subject>PptxGenJS Presentation</dc:subject>
  <dc:creator>Emerald AI</dc:creator>
  <cp:lastModifiedBy>Emerald AI</cp:lastModifiedBy>
  <cp:revision>1</cp:revision>
  <dcterms:created xsi:type="dcterms:W3CDTF">2026-06-17T16:40:37Z</dcterms:created>
  <dcterms:modified xsi:type="dcterms:W3CDTF">2026-06-17T16:40:37Z</dcterms:modified>
</cp:coreProperties>
</file>