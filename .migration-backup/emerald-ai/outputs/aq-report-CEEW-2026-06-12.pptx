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AQ Articles</c:v>
                </c:pt>
              </c:strCache>
            </c:strRef>
          </c:tx>
          <c:spPr>
            <a:solidFill>
              <a:srgbClr val="3D8E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D8E4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CEEW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D8E4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2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81E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CEEW</c:v>
                </c:pt>
              </c:strCache>
            </c:strRef>
          </c:tx>
          <c:spPr>
            <a:solidFill>
              <a:srgbClr val="3D8EF0"/>
            </a:solidFill>
            <a:ln w="38100" cap="flat">
              <a:solidFill>
                <a:srgbClr val="3D8EF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D8EF0"/>
              </a:solidFill>
              <a:ln w="9525" cap="flat">
                <a:solidFill>
                  <a:srgbClr val="3D8EF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03-08</c:v>
                  </c:pt>
                  <c:pt idx="1">
                    <c:v>03-15</c:v>
                  </c:pt>
                  <c:pt idx="2">
                    <c:v>03-22</c:v>
                  </c:pt>
                  <c:pt idx="3">
                    <c:v>03-29</c:v>
                  </c:pt>
                  <c:pt idx="4">
                    <c:v>04-05</c:v>
                  </c:pt>
                  <c:pt idx="5">
                    <c:v>04-12</c:v>
                  </c:pt>
                  <c:pt idx="6">
                    <c:v>04-19</c:v>
                  </c:pt>
                  <c:pt idx="7">
                    <c:v>04-26</c:v>
                  </c:pt>
                  <c:pt idx="8">
                    <c:v>05-03</c:v>
                  </c:pt>
                  <c:pt idx="9">
                    <c:v>05-10</c:v>
                  </c:pt>
                  <c:pt idx="10">
                    <c:v>05-17</c:v>
                  </c:pt>
                  <c:pt idx="11">
                    <c:v>05-24</c:v>
                  </c:pt>
                  <c:pt idx="12">
                    <c:v>05-31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2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D8E4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81E2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Source %</c:v>
                </c:pt>
              </c:strCache>
            </c:strRef>
          </c:tx>
          <c:spPr>
            <a:solidFill>
              <a:srgbClr val="4CAF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D8E4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CEEW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 Cited %</c:v>
                </c:pt>
              </c:strCache>
            </c:strRef>
          </c:tx>
          <c:spPr>
            <a:solidFill>
              <a:srgbClr val="C992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D8E4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CEEW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D8E4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2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D8E4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81E2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AEO Score</c:v>
                </c:pt>
              </c:strCache>
            </c:strRef>
          </c:tx>
          <c:spPr>
            <a:solidFill>
              <a:srgbClr val="3D8E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D8E4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CEEW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D8E4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252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81E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194560"/>
          </a:xfrm>
          <a:prstGeom prst="rect">
            <a:avLst/>
          </a:prstGeom>
          <a:solidFill>
            <a:srgbClr val="111520"/>
          </a:solidFill>
          <a:ln w="12700">
            <a:solidFill>
              <a:srgbClr val="11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MEDIA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Quality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TRIPLE Media Analytics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103120" cy="402336"/>
          </a:xfrm>
          <a:prstGeom prst="roundRect">
            <a:avLst>
              <a:gd name="adj" fmla="val 11364"/>
            </a:avLst>
          </a:prstGeom>
          <a:solidFill>
            <a:srgbClr val="3D8EF0">
              <a:alpha val="18000"/>
            </a:srgbClr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3172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2026-03-08  →  2026-06-08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0" y="292608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LLM Visibility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0" y="321868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Social: X/Twitter · Instagram · LinkedIn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492240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Test · Generated 2026-06-12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47120" cy="1316736"/>
          </a:xfrm>
          <a:prstGeom prst="roundRect">
            <a:avLst>
              <a:gd name="adj" fmla="val 5556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61872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 generated single article on Indian air quality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64208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 produced 1 article on air quality during the March-June 2026 period. Times of India was the top outlet carrying CEEW-related coverage, indicating limited direct media placement for this organization.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15184"/>
            <a:ext cx="11247120" cy="1316736"/>
          </a:xfrm>
          <a:prstGeom prst="roundRect">
            <a:avLst>
              <a:gd name="adj" fmla="val 5556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06624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188720" y="2724912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data-specific framing in CEEW air quality coverage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108960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CEEW's air quality content scored 0% on data-specific metrics, meaning no articles included quantified air quality indices, regional breakdowns, or measurable pollution thresholds. This contrasts with evidence-based environmental reporting standards.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11247120" cy="1316736"/>
          </a:xfrm>
          <a:prstGeom prst="roundRect">
            <a:avLst>
              <a:gd name="adj" fmla="val 5556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151376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188720" y="4169664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digital and social media visibility for CEEW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553712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 scored 0/100 across all social platforms (YouTube, Twitter, Instagram, LinkedIn) and 22/100 on AEO visibility during the reporting period. This indicates weak reach through digital channels for air quality discourse.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2026-03-08 to 2026-06-08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of Voice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15568"/>
          <a:ext cx="7132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115568"/>
            <a:ext cx="3840480" cy="1170432"/>
          </a:xfrm>
          <a:prstGeom prst="roundRect">
            <a:avLst>
              <a:gd name="adj" fmla="val 6250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28432" y="12070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28432" y="1463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028432" y="19385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418320" y="1463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share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418320" y="17556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Times of India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38251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 News API · 2026-06-12 · AQ-scoped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Momentum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15568"/>
          <a:ext cx="112471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2026-03-08 to 2026-06-08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Ownership Map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15568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7824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 SUB-TOPIC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8E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NCAP/Policy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 Exposure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Stubble Burning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Air 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Vehicular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Heat-AQI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8251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= 5+ · Contests = 2–4 · Absent = 0–1 · Clustered by Claude Haiku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06 &amp; 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Narrative Position &amp; Citation Quality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383280" cy="2450592"/>
          </a:xfrm>
          <a:prstGeom prst="roundRect">
            <a:avLst>
              <a:gd name="adj" fmla="val 2985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618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162397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94360" y="2157984"/>
            <a:ext cx="162397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21992" y="1554480"/>
            <a:ext cx="0" cy="822960"/>
          </a:xfrm>
          <a:prstGeom prst="line">
            <a:avLst/>
          </a:prstGeom>
          <a:noFill/>
          <a:ln w="6350">
            <a:solidFill>
              <a:srgbClr val="252D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13432" y="1554480"/>
            <a:ext cx="162397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313432" y="2157984"/>
            <a:ext cx="162397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Cited</a:t>
            </a:r>
            <a:endParaRPr lang="en-US" sz="10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" y="3840480"/>
          <a:ext cx="112471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2026-03-08 to 2026-06-08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 — LLM VISIBILITY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 Optimisation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is each organisation cited when AI models answer AQ questions? Based on 5 standard queries per LLM.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41732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55080" y="15087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55080" y="180136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AEO: 22/100 · 2 total mentions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355080" y="205740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Flash: 0/5  ·  Perplexity: 2/5  ·  GPT-4o mini: 0/5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55080" y="2331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most **authoritative Indian sources** on air quality data and policy are the **Central Pollution Control Board (CPCB..."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638251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 questions: "Which organisations are the most authoritative on Indian air quality?" and 4 similar. Score = (mentions/questions) × 100.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2026-03-08 to 2026-06-08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INTELLIGENCE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Presence Scorecard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mentions in top AQ content across YouTube · X/Twitter · Instagram · LinkedIn — Serper Search + YouTube Data API.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1828800"/>
          </a:xfrm>
          <a:prstGeom prst="roundRect">
            <a:avLst>
              <a:gd name="adj" fmla="val 4000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data not collected this run.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2374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social media API keys and/or Serper key to enable.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38251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Data API v3 broad AQ search · X/Twitter/Instagram/LinkedIn: Serper site: search · mention detection across title, description, comments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2026-03-08 to 2026-06-08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Emerging Narratives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47120" cy="2212848"/>
          </a:xfrm>
          <a:prstGeom prst="roundRect">
            <a:avLst>
              <a:gd name="adj" fmla="val 3306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502920" cy="2212848"/>
          </a:xfrm>
          <a:prstGeom prst="roundRect">
            <a:avLst>
              <a:gd name="adj" fmla="val 7273"/>
            </a:avLst>
          </a:prstGeom>
          <a:solidFill>
            <a:srgbClr val="4CAF74">
              <a:alpha val="22000"/>
            </a:srgbClr>
          </a:solidFill>
          <a:ln w="6350">
            <a:solidFill>
              <a:srgbClr val="4CAF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26187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Delhi-specific pollution crisis and urban health impacts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0" y="12618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CA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Increasing mentions from March through June 2026 with intensified framing of health urgency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1673352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focus on Delhi's acute air quality deterioration and its health consequences on residents, positioning the capital as a case study for India's broader pollution challenges.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20299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INFERENCE — labelled as inference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2468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'Dil' of India turns choking lungs: Can Delhi fix its pollution crisis? | India News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547872"/>
            <a:ext cx="11247120" cy="2212848"/>
          </a:xfrm>
          <a:prstGeom prst="roundRect">
            <a:avLst>
              <a:gd name="adj" fmla="val 3306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547872"/>
            <a:ext cx="502920" cy="2212848"/>
          </a:xfrm>
          <a:prstGeom prst="roundRect">
            <a:avLst>
              <a:gd name="adj" fmla="val 7273"/>
            </a:avLst>
          </a:prstGeom>
          <a:solidFill>
            <a:srgbClr val="4CAF74">
              <a:alpha val="22000"/>
            </a:srgbClr>
          </a:solidFill>
          <a:ln w="6350">
            <a:solidFill>
              <a:srgbClr val="4CAF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63931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health and medical impact of air pollution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0" y="3639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CA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Emerging as distinct narrative thread separate from pollution measurement discussions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" y="4050792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coverage of the direct health consequences and medical dimension of air quality degradation across Indian cities, moving beyond pollution metrics to clinical outcomes.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8992" y="44074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INFERENCE — labelled as inference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8992" y="4846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Delhi, the heart of India, is fast turning into a city that cannot breathe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2026-03-08 to 2026-06-08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Scorecard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111520"/>
          </a:solidFill>
          <a:ln w="19050">
            <a:solidFill>
              <a:srgbClr val="3D8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0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871216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Voice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3090672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3090672"/>
            <a:ext cx="93269" cy="9144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87121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438144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657600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34381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4005072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224528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400507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4572000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4791456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791456"/>
            <a:ext cx="683971" cy="9144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45720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38251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(SoV×0.25) + (Narrative×0.25) + (Citation×0.20) + (AEO×0.30)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Matrix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D4A017">
              <a:alpha val="25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642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72768" y="151790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Delhi-specific pollution crisis content series with medical experts; secure 3-4 Times of India features on respiratory health impacts tied to current AQI spikes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18105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88920" y="1810512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unclaimed topic with zero current coverage; Times of India is top outlet, making Delhi-health angle a high-conversion entry point for earned media.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12848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D4A017">
              <a:alpha val="25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140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Now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72768" y="22677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data-backed narrative connecting air pollution to medical outcomes (hospitalisation rates, mortality trends) with authenticated research citations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25603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88920" y="2560320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auth + 0% data-specific creates credibility gap; medical narrative bridges CEEW's research to mainstream media demand for hard-hitting stories.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962656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62656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E05C5C">
              <a:alpha val="25000"/>
            </a:srgbClr>
          </a:solidFill>
          <a:ln w="6350">
            <a:solidFill>
              <a:srgbClr val="E05C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638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72768" y="3017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LinkedIn presence with weekly policy briefs + Twitter thread series on Delhi AQ-health nexus; target journalists, health officials, researchers (starting 2-3 posts/week)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72768" y="33101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88920" y="3310128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score 0/100 across all platforms; LinkedIn reaches policy influencers and journalists; Twitter amplifies breaking AQ data—both align with CEEW's authority positioning.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712464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12464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4CAF74">
              <a:alpha val="25000"/>
            </a:srgbClr>
          </a:solidFill>
          <a:ln w="6350">
            <a:solidFill>
              <a:srgbClr val="4CAF7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136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72768" y="37673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existing Times of India relationships for 2-3 authored op-eds on respiratory health + Delhi pollution; secure byline placement over 6 weeks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72768" y="40599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88920" y="4059936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 22/100 with established Times of India rapport; op-eds boost authority while capturing high-intent audience already consuming CEEW's top outlet.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2026-03-08 to 2026-06-08 ·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 Media Intelligence — CEEW</dc:title>
  <dc:subject>PptxGenJS Presentation</dc:subject>
  <dc:creator>Emerald AI</dc:creator>
  <cp:lastModifiedBy>Emerald AI</cp:lastModifiedBy>
  <cp:revision>1</cp:revision>
  <dcterms:created xsi:type="dcterms:W3CDTF">2026-06-12T15:19:01Z</dcterms:created>
  <dcterms:modified xsi:type="dcterms:W3CDTF">2026-06-12T15:19:01Z</dcterms:modified>
</cp:coreProperties>
</file>