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AQ Articles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4cc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Council on Energy, Environment and Water</c:v>
                  </c:pt>
                  <c:pt idx="1">
                    <c:v>WRI India</c:v>
                  </c:pt>
                  <c:pt idx="2">
                    <c:v>Air Pollution Action Group</c:v>
                  </c:pt>
                  <c:pt idx="3">
                    <c:v>IIT Kanpur</c:v>
                  </c:pt>
                  <c:pt idx="4">
                    <c:v>IIT Delhi</c:v>
                  </c:pt>
                  <c:pt idx="5">
                    <c:v>EPIC India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Source %</c:v>
                </c:pt>
              </c:strCache>
            </c:strRef>
          </c:tx>
          <c:spPr>
            <a:solidFill>
              <a:srgbClr val="4CAF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Council on Energy, Environment and Water</c:v>
                  </c:pt>
                  <c:pt idx="1">
                    <c:v>WRI India</c:v>
                  </c:pt>
                  <c:pt idx="2">
                    <c:v>Air Pollution Action Group</c:v>
                  </c:pt>
                  <c:pt idx="3">
                    <c:v>IIT Kanpur</c:v>
                  </c:pt>
                  <c:pt idx="4">
                    <c:v>IIT Delhi</c:v>
                  </c:pt>
                  <c:pt idx="5">
                    <c:v>EPIC India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Cited %</c:v>
                </c:pt>
              </c:strCache>
            </c:strRef>
          </c:tx>
          <c:spPr>
            <a:solidFill>
              <a:srgbClr val="C992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Council on Energy, Environment and Water</c:v>
                  </c:pt>
                  <c:pt idx="1">
                    <c:v>WRI India</c:v>
                  </c:pt>
                  <c:pt idx="2">
                    <c:v>Air Pollution Action Group</c:v>
                  </c:pt>
                  <c:pt idx="3">
                    <c:v>IIT Kanpur</c:v>
                  </c:pt>
                  <c:pt idx="4">
                    <c:v>IIT Delhi</c:v>
                  </c:pt>
                  <c:pt idx="5">
                    <c:v>EPIC India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D8E4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LLM Mentions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4cc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Council on Energy, Environment and Water</c:v>
                  </c:pt>
                  <c:pt idx="1">
                    <c:v>WRI India</c:v>
                  </c:pt>
                  <c:pt idx="2">
                    <c:v>Air Pollution Action Group</c:v>
                  </c:pt>
                  <c:pt idx="3">
                    <c:v>IIT Kanpur</c:v>
                  </c:pt>
                  <c:pt idx="4">
                    <c:v>IIT Delhi</c:v>
                  </c:pt>
                  <c:pt idx="5">
                    <c:v>EPIC India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2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194560"/>
          </a:xfrm>
          <a:prstGeom prst="rect">
            <a:avLst/>
          </a:prstGeom>
          <a:solidFill>
            <a:srgbClr val="111520"/>
          </a:solidFill>
          <a:ln w="12700">
            <a:solidFill>
              <a:srgbClr val="11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MEDIA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Media Analytics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798320" cy="402336"/>
          </a:xfrm>
          <a:prstGeom prst="roundRect">
            <a:avLst>
              <a:gd name="adj" fmla="val 11364"/>
            </a:avLst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1798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on E…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38400" y="2331720"/>
            <a:ext cx="1798320" cy="402336"/>
          </a:xfrm>
          <a:prstGeom prst="roundRect">
            <a:avLst>
              <a:gd name="adj" fmla="val 11364"/>
            </a:avLst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8400" y="2331720"/>
            <a:ext cx="1798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8160" y="2331720"/>
            <a:ext cx="1798320" cy="402336"/>
          </a:xfrm>
          <a:prstGeom prst="roundRect">
            <a:avLst>
              <a:gd name="adj" fmla="val 11364"/>
            </a:avLst>
          </a:prstGeom>
          <a:solidFill>
            <a:srgbClr val="EAB308">
              <a:alpha val="18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8160" y="2331720"/>
            <a:ext cx="1798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31720"/>
            <a:ext cx="1798320" cy="402336"/>
          </a:xfrm>
          <a:prstGeom prst="roundRect">
            <a:avLst>
              <a:gd name="adj" fmla="val 11364"/>
            </a:avLst>
          </a:prstGeom>
          <a:solidFill>
            <a:srgbClr val="84CC16">
              <a:alpha val="18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331720"/>
            <a:ext cx="1798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Kanpur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7680" y="2331720"/>
            <a:ext cx="1798320" cy="402336"/>
          </a:xfrm>
          <a:prstGeom prst="roundRect">
            <a:avLst>
              <a:gd name="adj" fmla="val 11364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7680" y="2331720"/>
            <a:ext cx="1798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97440" y="2331720"/>
            <a:ext cx="1798320" cy="402336"/>
          </a:xfrm>
          <a:prstGeom prst="roundRect">
            <a:avLst>
              <a:gd name="adj" fmla="val 11364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97440" y="2331720"/>
            <a:ext cx="1798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India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2026-02-01  →  2026-05-01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29260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LLM Visibility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Chetan Bhattacharji · Generated 2026-06-29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Kanpur dominates algorithmic visibility with 7 AEO mentions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6420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Kanpur recorded 7 mentions in algorithmic engine optimization tracking, compared to IIT Delhi's 4 mentions and Council on Energy, Environment and Water's 2 mentions. All other organizations (WRI India, Air Pollution Action Group, EPIC India) recorded zero AEO mentions during the February-May 2026 period.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15184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0662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organizations absent from traditional media coverage period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articles were attributed to any of the six organizations across the February-May 2026 monitoring window. This uniform absence spans all entities regardless of institutional type or research capacity.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51376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188720" y="4169664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social media activity across all tracked organizations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553712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WRI India and IIT Delhi maintained YouTube presence with 1 video each. All six organizations scored 0/10 on social presence metrics across LinkedIn, X, and Instagram platforms.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2026-02-01 to 2026-05-01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 Press Analytics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15568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115568"/>
          <a:ext cx="3931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77240"/>
                <a:gridCol w="640080"/>
                <a:gridCol w="12344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99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Outlet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Council on Energy, Environment and Water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9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9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Pollution Action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9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IIT Kanpur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9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IIT 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9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9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38251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News API · 2026-06-29 · AQ-scoped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Ownership Map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11247120" cy="914400"/>
        </p:xfrm>
        <a:graphic>
          <a:graphicData uri="http://schemas.openxmlformats.org/drawingml/2006/table">
            <a:tbl>
              <a:tblPr/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1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 SUB-TOPIC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Council on Energy, Environment and Water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Pollution Action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IIT Kanpur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IIT 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Stubble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Air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Vehicular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Heat-AQI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Brick Kilns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Diesel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Emitters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Power Plants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Indoor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 Air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 Residue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 Residue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Dust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11247120" cy="914400"/>
        </p:xfrm>
        <a:graphic>
          <a:graphicData uri="http://schemas.openxmlformats.org/drawingml/2006/table">
            <a:tbl>
              <a:tblPr/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1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 SUB-TOPIC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Council on Energy, Environment and Water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Pollution Action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IIT Kanpur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IIT 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Stubble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Air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Vehicular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Heat-AQI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Brick Kilns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Diesel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Emitters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Power Plants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Indoor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 Air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 Residue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 Residue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Dust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= relative article count per topic · Clustered by Claude Haiku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05 &amp;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 Position &amp; Citation Quality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on Energy, Environment and Water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811987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157984"/>
            <a:ext cx="8119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6172" y="1554480"/>
            <a:ext cx="0" cy="822960"/>
          </a:xfrm>
          <a:prstGeom prst="line">
            <a:avLst/>
          </a:prstGeom>
          <a:noFill/>
          <a:ln w="6350">
            <a:solidFill>
              <a:srgbClr val="25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7612" y="1554480"/>
            <a:ext cx="811987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7612" y="2157984"/>
            <a:ext cx="8119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170432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2618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554480"/>
            <a:ext cx="811987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14600" y="2157984"/>
            <a:ext cx="8119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6412" y="1554480"/>
            <a:ext cx="0" cy="822960"/>
          </a:xfrm>
          <a:prstGeom prst="line">
            <a:avLst/>
          </a:prstGeom>
          <a:noFill/>
          <a:ln w="6350">
            <a:solidFill>
              <a:srgbClr val="252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7852" y="1554480"/>
            <a:ext cx="811987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7852" y="2157984"/>
            <a:ext cx="8119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1170432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2618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Action Group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1554480"/>
            <a:ext cx="811987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34840" y="2157984"/>
            <a:ext cx="8119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6652" y="1554480"/>
            <a:ext cx="0" cy="822960"/>
          </a:xfrm>
          <a:prstGeom prst="line">
            <a:avLst/>
          </a:prstGeom>
          <a:noFill/>
          <a:ln w="6350">
            <a:solidFill>
              <a:srgbClr val="252D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8092" y="1554480"/>
            <a:ext cx="811987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08092" y="2157984"/>
            <a:ext cx="8119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170432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2618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Kanpur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1554480"/>
            <a:ext cx="811987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55080" y="2157984"/>
            <a:ext cx="8119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6892" y="1554480"/>
            <a:ext cx="0" cy="822960"/>
          </a:xfrm>
          <a:prstGeom prst="line">
            <a:avLst/>
          </a:prstGeom>
          <a:noFill/>
          <a:ln w="6350">
            <a:solidFill>
              <a:srgbClr val="252D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8332" y="1554480"/>
            <a:ext cx="811987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28332" y="2157984"/>
            <a:ext cx="8119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1170432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12618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75320" y="1554480"/>
            <a:ext cx="811987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275320" y="2157984"/>
            <a:ext cx="8119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57132" y="1554480"/>
            <a:ext cx="0" cy="822960"/>
          </a:xfrm>
          <a:prstGeom prst="line">
            <a:avLst/>
          </a:prstGeom>
          <a:noFill/>
          <a:ln w="6350">
            <a:solidFill>
              <a:srgbClr val="252D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8572" y="1554480"/>
            <a:ext cx="811987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148572" y="2157984"/>
            <a:ext cx="8119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058400" y="1170432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95560" y="12618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India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195560" y="1554480"/>
            <a:ext cx="811987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0195560" y="2157984"/>
            <a:ext cx="8119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977372" y="1554480"/>
            <a:ext cx="0" cy="822960"/>
          </a:xfrm>
          <a:prstGeom prst="line">
            <a:avLst/>
          </a:prstGeom>
          <a:noFill/>
          <a:ln w="6350">
            <a:solidFill>
              <a:srgbClr val="252D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068812" y="1554480"/>
            <a:ext cx="811987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1068812" y="2157984"/>
            <a:ext cx="81198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Cited</a:t>
            </a:r>
            <a:endParaRPr lang="en-US" sz="100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457200" y="3840480"/>
          <a:ext cx="11247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2026-02-01 to 2026-05-01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— LLM VISIBILITY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 Optimisation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is each organisation cited when AI models answer AQ questions? Metric = raw LLM mentions.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41732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5080" y="1508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on Energy, Environment and Water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5080" y="180136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total LLM mentions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55080" y="20574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Flash: 0/15  ·  Perplexity: 1/15  ·  GPT-4o mini: 0/15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5508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primary think tank influencing air quality regulation and policy in India is the **Council on Energy, Environment an..."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17920" y="288036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9718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55080" y="326440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total LLM mentions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55080" y="35204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Flash: 0/15  ·  Perplexity: 0/15  ·  GPT-4o mini: 0/15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0" y="434340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44348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Action Group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55080" y="472744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total LLM mentions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55080" y="498348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Flash: 0/15  ·  Perplexity: 0/15  ·  GPT-4o mini: 0/15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17920" y="580644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58978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Kanpur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55080" y="619048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total LLM mentions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55080" y="644652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Flash: 0/15  ·  Perplexity: 3/15  ·  GPT-4o mini: 0/15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355080" y="6720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**Central Pollution Control Board (CPCB)** publishes the most reliable air quality data in India, serving as the nat..."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questions sent verbatim to GPT-4o mini, Perplexity Sonar, and Gemini 1.5 Flash. Metric = raw LLM mentions.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2026-02-01 to 2026-05-01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INTELLIGENCE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Engagement Rate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= (Likes + Replies + Reposts) / Views × 100, averaged across AQ posts per org. Sources: Serper web search (LinkedIn + X/Twitter) · X metrics via page text scrape.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ER data not collected this run.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237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AQ Presence powered by Serper web search.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web search: site:linkedin.com/posts + site:x.com queries · X metrics extracted via Serper page text scrape · ER = (likes + replies + reposts) / views ×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2026-02-01 to 2026-05-01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 Media White-Space Gaps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the broader AQ media is covering that tracked orgs are absent from — narrative opportunities.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2121408"/>
          </a:xfrm>
          <a:prstGeom prst="roundRect">
            <a:avLst>
              <a:gd name="adj" fmla="val 3448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02920" cy="2121408"/>
          </a:xfrm>
          <a:prstGeom prst="roundRect">
            <a:avLst>
              <a:gd name="adj" fmla="val 7273"/>
            </a:avLst>
          </a:prstGeom>
          <a:solidFill>
            <a:srgbClr val="C9922A">
              <a:alpha val="22000"/>
            </a:srgbClr>
          </a:solidFill>
          <a:ln w="6350">
            <a:solidFill>
              <a:srgbClr val="C9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0876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92808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general AQ articles fetched to identify gaps.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2026-02-01 to 2026-05-01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— PART 1 OF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Scorecard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112264" cy="4572000"/>
          </a:xfrm>
          <a:prstGeom prst="roundRect">
            <a:avLst>
              <a:gd name="adj" fmla="val 4329"/>
            </a:avLst>
          </a:prstGeom>
          <a:solidFill>
            <a:srgbClr val="111520"/>
          </a:solidFill>
          <a:ln w="19050">
            <a:solidFill>
              <a:srgbClr val="84CC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Kanpur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21122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CA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71216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 Press Analytics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090672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6544" y="28712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438144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34381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005072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224528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6544" y="4005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572000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4791456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4791456"/>
            <a:ext cx="128656" cy="914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6544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34056" y="1170432"/>
            <a:ext cx="2112264" cy="4572000"/>
          </a:xfrm>
          <a:prstGeom prst="roundRect">
            <a:avLst>
              <a:gd name="adj" fmla="val 4329"/>
            </a:avLst>
          </a:prstGeom>
          <a:solidFill>
            <a:srgbClr val="11152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34056" y="1261872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on Energy, Environment and Water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34056" y="1536192"/>
            <a:ext cx="21122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2734056" y="2487168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71216" y="2871216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 Press Analytics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71216" y="3090672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28712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71216" y="3438144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71216" y="3657600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34381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71216" y="4005072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71216" y="4224528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4005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71216" y="4572000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71216" y="4791456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71216" y="4791456"/>
            <a:ext cx="36759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3400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10912" y="1170432"/>
            <a:ext cx="2112264" cy="4572000"/>
          </a:xfrm>
          <a:prstGeom prst="roundRect">
            <a:avLst>
              <a:gd name="adj" fmla="val 4329"/>
            </a:avLst>
          </a:prstGeom>
          <a:solidFill>
            <a:srgbClr val="11152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1261872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10912" y="1536192"/>
            <a:ext cx="21122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</a:t>
            </a:r>
            <a:endParaRPr lang="en-US" sz="4800" dirty="0"/>
          </a:p>
        </p:txBody>
      </p:sp>
      <p:sp>
        <p:nvSpPr>
          <p:cNvPr id="41" name="Text 39"/>
          <p:cNvSpPr/>
          <p:nvPr/>
        </p:nvSpPr>
        <p:spPr>
          <a:xfrm>
            <a:off x="5010912" y="2487168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48072" y="2871216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 Press Analytics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48072" y="3090672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0256" y="28712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48072" y="3438144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48072" y="3657600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0256" y="34381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48072" y="4005072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48072" y="4224528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20256" y="4005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48072" y="4572000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48072" y="4791456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48072" y="4791456"/>
            <a:ext cx="73518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20256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287768" y="1170432"/>
            <a:ext cx="2112264" cy="4572000"/>
          </a:xfrm>
          <a:prstGeom prst="roundRect">
            <a:avLst>
              <a:gd name="adj" fmla="val 4329"/>
            </a:avLst>
          </a:prstGeom>
          <a:solidFill>
            <a:srgbClr val="11152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87768" y="1261872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287768" y="1536192"/>
            <a:ext cx="21122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F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4th</a:t>
            </a:r>
            <a:endParaRPr lang="en-US" sz="4800" dirty="0"/>
          </a:p>
        </p:txBody>
      </p:sp>
      <p:sp>
        <p:nvSpPr>
          <p:cNvPr id="58" name="Text 56"/>
          <p:cNvSpPr/>
          <p:nvPr/>
        </p:nvSpPr>
        <p:spPr>
          <a:xfrm>
            <a:off x="7287768" y="2487168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100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424928" y="2871216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 Press Analytics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424928" y="3090672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97112" y="28712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424928" y="3438144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424928" y="3657600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97112" y="34381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424928" y="4005072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424928" y="4224528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897112" y="4005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424928" y="4572000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424928" y="4791456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897112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564624" y="1170432"/>
            <a:ext cx="2112264" cy="4572000"/>
          </a:xfrm>
          <a:prstGeom prst="roundRect">
            <a:avLst>
              <a:gd name="adj" fmla="val 4329"/>
            </a:avLst>
          </a:prstGeom>
          <a:solidFill>
            <a:srgbClr val="111520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564624" y="1261872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Action Group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564624" y="1536192"/>
            <a:ext cx="21122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F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4th</a:t>
            </a:r>
            <a:endParaRPr lang="en-US" sz="4800" dirty="0"/>
          </a:p>
        </p:txBody>
      </p:sp>
      <p:sp>
        <p:nvSpPr>
          <p:cNvPr id="74" name="Text 72"/>
          <p:cNvSpPr/>
          <p:nvPr/>
        </p:nvSpPr>
        <p:spPr>
          <a:xfrm>
            <a:off x="9564624" y="2487168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100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9701784" y="2871216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 Press Analytics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9701784" y="3090672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173968" y="28712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701784" y="3438144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9701784" y="3657600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173968" y="34381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9701784" y="4005072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701784" y="4224528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1173968" y="4005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9701784" y="4572000"/>
            <a:ext cx="109837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9701784" y="4791456"/>
            <a:ext cx="1837944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173968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(SoV×0.25) + (Narrative×0.25) + (Citation×0.20) + (AEO mentions×0.30)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— PART 2 OF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Scorecard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11152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India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F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4th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71216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 Press Analytics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090672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8712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438144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4381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005072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224528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4005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572000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4791456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(SoV×0.25) + (Narrative×0.25) + (Citation×0.20) + (AEO mentions×0.30)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on Energy, Environment and Water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D4A017">
              <a:alpha val="2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72768" y="15179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3 data-led op-eds to The Hindu, Hindustan Times, and Down To Earth on CEEW's energy-AQ nexus research within 30 days, targeting journalists who regularly cover pollution policy.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810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88920" y="181051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 has 0 articles and 0% author attribution in Indian AQ media despite holding substantive research, representing a complete absence from earned media. Immediate outlet-specific pitching is needed to establish baseline visibility.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12848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D4A017">
              <a:alpha val="2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140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72768" y="2267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CEEW's top AQ web pages with FAQ schema markup and concise 40-60 word expert-answer blocks targeting the 2 AEO mention queries where CEEW is already surfacing but not cited.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5603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88920" y="2560320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 has 2 AEO mentions, indicating AI search engines are aware of the organisation but not pulling structured answers from its content. Schema optimisation can convert existing awareness into direct citation.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62656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E05C5C">
              <a:alpha val="25000"/>
            </a:srgbClr>
          </a:solidFill>
          <a:ln w="6350">
            <a:solidFill>
              <a:srgbClr val="E05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638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72768" y="3017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LinkedIn content programme publishing 3 posts per week featuring data visualisations from CEEW's AQ and energy reports, with a 90-day KPI of 1,000 followers and 5% engagement rate.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33101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88920" y="3310128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 scores 0/10 across all social platforms with zero LinkedIn activity, leaving a high-intent professional audience completely unreached. LinkedIn is the primary channel where Indian policy and media decision-makers discover expert organisations.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12464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12464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4CAF74">
              <a:alpha val="25000"/>
            </a:srgbClr>
          </a:solidFill>
          <a:ln w="6350">
            <a:solidFill>
              <a:srgbClr val="4CAF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136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72768" y="3767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consistently deploy a single signature narrative — 'Clean Energy as the Fastest Route to Clean Air' — across all communications, tied to specific CEEW dataset claims to build topical authority.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4059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88920" y="4059936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0% data-specific attribution and no recurring topic clusters (topics 2+: none), CEEW lacks a recognisable AQ narrative identity. A singular, evidence-anchored message will accelerate author and institutional recognition in media and AEO systems.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55371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846320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D4A017">
              <a:alpha val="2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0474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72768" y="49011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brief 5 senior Indian AQ journalists with a tailored WRI India research dossier, offering exclusive data access and spokespeople for upcoming pollution season coverage in Q3.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72768" y="51937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88920" y="519379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 has 0 articles and 0% author attribution despite being a globally recognised brand with local research capacity. Proactive journalist relationship-building is the fastest lever to convert brand equity into Indian AQ media presence.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5596128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596128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D4A017">
              <a:alpha val="2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7972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572768" y="56509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rewrite WRI India's AQ-related web content to include structured, question-led headers and cited statistics, targeting the zero AEO mentions that indicate AI search engines are not drawing on WRI India's content.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572768" y="59436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88920" y="5943600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 records 0 AEO mentions, meaning AI-generated answers on Indian AQ topics are bypassing the organisation entirely. Content restructuring for answer-engine readability is urgent given the growing share of zero-click search behaviour.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643737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Action Group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82142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Kanpur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720547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7589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India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2026-02-01 to 2026-05-01 ·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 Media Intelligence — Council on Energy, Environment and Water vs WRI India vs Air Pollution Action Group vs IIT Kanpur vs IIT Delhi vs EPIC India</dc:title>
  <dc:subject>PptxGenJS Presentation</dc:subject>
  <dc:creator>Emerald AI</dc:creator>
  <cp:lastModifiedBy>Emerald AI</cp:lastModifiedBy>
  <cp:revision>1</cp:revision>
  <dcterms:created xsi:type="dcterms:W3CDTF">2026-06-29T09:45:24Z</dcterms:created>
  <dcterms:modified xsi:type="dcterms:W3CDTF">2026-06-29T09:45:24Z</dcterms:modified>
</cp:coreProperties>
</file>